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JetBrains Mono" panose="02000009000000000000" pitchFamily="49" charset="0"/>
      <p:regular r:id="rId27"/>
      <p:bold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This is what I learned building HumanifyOS with Cursor cloud agents: three programs, 487 tickets planned and more than 600 built in 10 days, all from one spec pack. The point is not that AI writes code. The point is that the spec is now the product, and the agents compile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talk. The traditional number is the estimate from our ELT brief; the 10 days is what actually happened, beating our own 17-day plan. That shows where leverage lives now: if the spec is complete, agents can run around the clock. If it is vague, they run around the clock producing the wrong thing. Everything that follows is about making the spec complete enough that an agent that knows nothing can build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One through three are about getting the spec right before any code exists. Four is how the agent learns your rules. Five through nine are how you run the build so it stays correct as it grows. Roughly two minutes per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three inputs separate at first. Business people write in English, designers bring screens, architects bring the technical requirements. Then merge them into one technical PRD, organized by components and systems, not by meeting. The key word is iterate. Every pass turns up contradictions, lost features and stubs pretending to be done. The ledger is what stops features from silently disappearing between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this one. We started with 487 tickets and ended over 600. More than 120 tickets were written during and after the build: gaps the spec never covered, requirements that turned out wrong once we saw them running, and bugs. That is roughly a quarter on top of the plan. The lesson is not that the spec failed; it is that discovered work is normal, so budget for it, and route every new ticket through the same template and generators instead of patching code directly. Otherwise the spec stops being the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prompt I actually used, saved as a skill so anyone can run it with /build-pack. It treats the model as a principal architect, not a typist. Two rules matter most. "Nothing is lost": features that were in an earlier version and are missing from the newest one count as loss, not as decisions. And "the harness knows nothing": the ticket plus its linked spec files must be enough on their own. The full prompt is about 31 kilobytes; I will share it after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runs in phases. Intake reads every file. Gaps lists what is broken. Freeze locks decisions. Then the spec pack, the harness preamble, and the tickets, which are the main deliverable. Then the plan and Jira import, validation, and delivery. The rule on the right is what keeps it honest: if a ticket mentions a table, route, event or config key, some spec file has to define it, and a script checks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template. Tickets are written by generator scripts, not by hand, and a helper asserts this bar on every one: word counts, acceptance-criteria shape, exactly one runnable test command, lock folders, links that resolve. If a ticket is too thin, the build fails. The "why" field matters more than people expect: it is how the agent decides between two reasonable implementations.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ticket from the end-user UI program, trimmed to fit. Notice what is not left to chance: the exact folders, the fixture file, the screen PNG it has to match, what a click must do, what happens on a 503, and the single command that proves it. The agent never has to guess, and the reviewer checks it against the same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Blockers are not bookkeeping. They are what lets an orchestrator run 18 agents safely: a ticket starts only when its blockers have merged and no running agent holds its folders. They also tell each team exactly when it can start. Admin starts when the platform's readiness gate goes green; the UI starts when the admin RBAC gate goes green. In Jira those are real Blocks links, so the first ticket simply shows as blocked until it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it. At the bottom, imported discipline you should not write yourself: keep code minimal, test first, debug systematically, verify before you say done. On top of that, your own coding requirements. On top of that, the rules generated from the spec pack. The ticket sits at the top and inherits all of it. One practical point that bit us: cloud agents do not get your local skills. Commit them into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recommended base layer. Ponytail first: its whole job is to stop agents writing code that does not need to exist, and the author's own benchmark shows about half the code with more tests on risky logic. Superpowers is the best general discipline pack: test-driven development, root-cause debugging, verify before claiming done. Pick Spec Kit or OpenSpec, not both, as the spec workflow. Addy Osmani’s Agent Skills for review gates: code review, security hardening, and a ship step that runs a code reviewer, test engineer, security auditor and performance auditor in parallel. Everything here is MIT except Anthropic’s, which is mostly Apache-2.0, so all of it is safe to vendor. And use Anthropic's skill-creator to write your own. Import commands: Ponytail, copy its .mdc rule and skills folders; Superpowers, /add-plugin superpowers in Cursor and vendor skills for cloud agents; Spec Kit, specify init --integration cursor-agent.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layout. One parent folder, HOSPACK, with three program folders. Each module has its spec folder, its ledger and gap report, and its screens. Tickets, Jira files and plans are generated: nobody edits them by hand, you fix the generator and regenerate. The repo-root folder holds the direction files that get installed into each code repo. Keep the always-on part small: one core rule, with module and topic rules loading only when the agent works in that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Warp is the Cursor plugin I built to run all of this. Init sets it up in the repo, scan reads the pack's tickets and schedule, and start runs one block of gates at a time, here G0 through G3. The parent never writes product code; it dispatches Shuttles, one per ticket, each on its own branch, and it is the only thing allowed to merge. Reed handles Bugbot and the merge decision, Herald posts to Slack or Teams. Jira follows the work automatically, and a person only steps in at QA Ready for the large tickets.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is set when the ticket is generated, from its acceptance criteria, scope and lock folders, and lands in Jira as a size label. Warp reads it and starts each Shuttle on the model for that size: Haiku for small UI work, Sonnet 5.5 High by default, Opus for extra-large tickets. Fix rounds are different. From the second round of Bugbot findings, red CI or a failed acceptance criterion, the fix Shuttle switches to Opus, because cheap retries cost more than one good fix. Small and medium tickets merge themselves once everything is green; large and extra-large wait in QA Ready for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unit testing is not enough when nobody reads every line. Each acceptance criterion gets its own test, named after the ticket and the AC, so the reviewer can tick them off. Every ticket has exactly one command that must pass. Negative cases are mandatory. Tests run against fixtures, never live vendors. UI tickets also have to match the screen image and pass an accessibility sweep. Then gates run end-to-end checks across the whole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came from pain. Agents will build a beautiful button and never wire it up, or wire it up and then break it three tickets later while editing the same page. So we made it a rule, not a hope, and it ships in the HOS rule set: on every page, anything you can click that opens something, navigates or runs a function is a test-case requirement. The test stays with the page, so a later change that breaks the handler fails CI instead of failing in front of a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Autonomous agents cannot ask you to click something in a console at 3 a.m. So every manual step becomes a script, and every script is a ticket with its own tests. One target brings up the whole stack. One script proves it is ready and writes a machine-readable file the next program's first ticket reads. Tokens are minted, not hand-made. The pack itself regenerates from one command. Cloud infrastructure is code, and the same install runs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Documentation is the cheapest thing to automate and the first thing teams skip. Make it part of the definition of done. Each ticket updates technical, user and operational docs in a docs folder in the same pull request. And make it enforceable: CI checks that packages are commented, handlers list their routes and errors, and every config key or feature flag the code reads is documented. A PR that fails the check does not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one idea: the measure of a good spec is that an agent that knows nothing never has to ask a question. Everything else in this deck serves that, and even then a quarter more tickets will turn up during the build: plan for them. If you want one thing to try next week, take one module, run the build-pack prompt on it, and add Ponytail and Superpowers to the repo. Then open it up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E1A45"/>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11"/>
            <a:ext cx="10566400" cy="3957389"/>
          </a:xfrm>
          <a:prstGeom prst="rect">
            <a:avLst/>
          </a:prstGeom>
          <a:noFill/>
          <a:ln/>
        </p:spPr>
        <p:txBody>
          <a:bodyPr wrap="square" lIns="0" tIns="0" rIns="0" bIns="0" rtlCol="0" anchor="t"/>
          <a:lstStyle>
            <a:lvl1pPr algn="l" indent="0" marL="0">
              <a:lnSpc>
                <a:spcPct val="140000"/>
              </a:lnSpc>
              <a:buNone/>
              <a:defRPr lang="en-US" sz="1600" dirty="0">
                <a:solidFill>
                  <a:srgbClr val="1E1A45"/>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E1A45"/>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11"/>
            <a:ext cx="10566400" cy="3957389"/>
          </a:xfrm>
          <a:prstGeom prst="rect">
            <a:avLst/>
          </a:prstGeom>
          <a:noFill/>
          <a:ln/>
        </p:spPr>
        <p:txBody>
          <a:bodyPr wrap="square" lIns="0" tIns="0" rIns="0" bIns="0" rtlCol="0" anchor="t"/>
          <a:lstStyle>
            <a:lvl1pPr algn="l" indent="0" marL="0">
              <a:lnSpc>
                <a:spcPct val="140000"/>
              </a:lnSpc>
              <a:buNone/>
              <a:defRPr lang="en-US" sz="1600" dirty="0">
                <a:solidFill>
                  <a:srgbClr val="1E1A45"/>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33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4A83A"/>
          </a:solidFill>
          <a:ln/>
        </p:spPr>
      </p:sp>
      <p:sp>
        <p:nvSpPr>
          <p:cNvPr id="3" name="Text 1"/>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4A83A"/>
                </a:solidFill>
                <a:latin typeface="JetBrains Mono" pitchFamily="49" charset="0"/>
                <a:ea typeface="JetBrains Mono" pitchFamily="49" charset="-122"/>
                <a:cs typeface="JetBrains Mono" pitchFamily="49" charset="-120"/>
              </a:rPr>
              <a:t>HUMANIFYOS · ENGINEERING TALK</a:t>
            </a:r>
            <a:endParaRPr lang="en-US" sz="1400" dirty="0"/>
          </a:p>
        </p:txBody>
      </p:sp>
      <p:sp>
        <p:nvSpPr>
          <p:cNvPr id="4" name="Text 2"/>
          <p:cNvSpPr/>
          <p:nvPr>
            <p:ph type="title"/>
          </p:nvPr>
        </p:nvSpPr>
        <p:spPr>
          <a:xfrm>
            <a:off x="812800" y="197872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5FB"/>
                </a:solidFill>
                <a:latin typeface="IBM Plex Sans" pitchFamily="34" charset="0"/>
                <a:ea typeface="IBM Plex Sans" pitchFamily="34" charset="-122"/>
                <a:cs typeface="IBM Plex Sans" pitchFamily="34" charset="-120"/>
              </a:rPr>
              <a:t>Spec coding</a:t>
            </a:r>
            <a:endParaRPr lang="en-US" sz="6000" dirty="0"/>
          </a:p>
          <a:p>
            <a:pPr algn="l" indent="0" marL="0">
              <a:lnSpc>
                <a:spcPts val="6300"/>
              </a:lnSpc>
              <a:buNone/>
            </a:pPr>
            <a:r>
              <a:rPr lang="en-US" sz="6000" b="1" i="0" dirty="0">
                <a:solidFill>
                  <a:srgbClr val="F6F5FB"/>
                </a:solidFill>
                <a:latin typeface="IBM Plex Sans" pitchFamily="34" charset="0"/>
                <a:ea typeface="IBM Plex Sans" pitchFamily="34" charset="-122"/>
                <a:cs typeface="IBM Plex Sans" pitchFamily="34" charset="-120"/>
              </a:rPr>
              <a:t>with Cursor</a:t>
            </a:r>
            <a:endParaRPr lang="en-US" sz="6000" dirty="0"/>
          </a:p>
        </p:txBody>
      </p:sp>
      <p:sp>
        <p:nvSpPr>
          <p:cNvPr id="5" name="Text 3"/>
          <p:cNvSpPr/>
          <p:nvPr/>
        </p:nvSpPr>
        <p:spPr>
          <a:xfrm>
            <a:off x="812800" y="3832920"/>
            <a:ext cx="915670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EC8F0"/>
                </a:solidFill>
                <a:latin typeface="IBM Plex Sans" pitchFamily="34" charset="0"/>
                <a:ea typeface="IBM Plex Sans" pitchFamily="34" charset="-122"/>
                <a:cs typeface="IBM Plex Sans" pitchFamily="34" charset="-120"/>
              </a:rPr>
              <a:t>What 600+ agent-built tickets taught me about turning specs into software</a:t>
            </a:r>
            <a:endParaRPr lang="en-US" sz="2200" dirty="0"/>
          </a:p>
        </p:txBody>
      </p:sp>
      <p:sp>
        <p:nvSpPr>
          <p:cNvPr id="6" name="Text 4"/>
          <p:cNvSpPr/>
          <p:nvPr/>
        </p:nvSpPr>
        <p:spPr>
          <a:xfrm>
            <a:off x="812800" y="5476280"/>
            <a:ext cx="4335381"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5FB"/>
                </a:solidFill>
                <a:latin typeface="IBM Plex Sans" pitchFamily="34" charset="0"/>
                <a:ea typeface="IBM Plex Sans" pitchFamily="34" charset="-122"/>
                <a:cs typeface="IBM Plex Sans" pitchFamily="34" charset="-120"/>
              </a:rPr>
              <a:t>Shawn Lewis</a:t>
            </a:r>
            <a:endParaRPr lang="en-US" sz="1600" dirty="0"/>
          </a:p>
          <a:p>
            <a:pPr algn="l" indent="0" marL="0">
              <a:lnSpc>
                <a:spcPts val="2240"/>
              </a:lnSpc>
              <a:buNone/>
            </a:pPr>
            <a:r>
              <a:rPr lang="en-US" sz="1600" dirty="0">
                <a:solidFill>
                  <a:srgbClr val="CEC8F0"/>
                </a:solidFill>
                <a:latin typeface="IBM Plex Sans" pitchFamily="34" charset="0"/>
                <a:ea typeface="IBM Plex Sans" pitchFamily="34" charset="-122"/>
                <a:cs typeface="IBM Plex Sans" pitchFamily="34" charset="-120"/>
              </a:rPr>
              <a:t>Chief Technology Architect, TTEC HumanifyOS</a:t>
            </a:r>
            <a:endParaRPr lang="en-US" sz="1600" dirty="0"/>
          </a:p>
        </p:txBody>
      </p:sp>
      <p:sp>
        <p:nvSpPr>
          <p:cNvPr id="7" name="Text 5"/>
          <p:cNvSpPr/>
          <p:nvPr/>
        </p:nvSpPr>
        <p:spPr>
          <a:xfrm>
            <a:off x="10062428" y="5831880"/>
            <a:ext cx="131677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EC8F0"/>
                </a:solidFill>
                <a:latin typeface="JetBrains Mono" pitchFamily="49" charset="0"/>
                <a:ea typeface="JetBrains Mono" pitchFamily="49" charset="-122"/>
                <a:cs typeface="JetBrains Mono" pitchFamily="49" charset="-120"/>
              </a:rPr>
              <a:t>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2519"/>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5B46C9"/>
                </a:solidFill>
                <a:latin typeface="JetBrains Mono" pitchFamily="49" charset="0"/>
                <a:ea typeface="JetBrains Mono" pitchFamily="49" charset="-122"/>
                <a:cs typeface="JetBrains Mono" pitchFamily="49" charset="-120"/>
              </a:rPr>
              <a:t>THE SHIFT</a:t>
            </a:r>
            <a:endParaRPr lang="en-US" sz="1196" dirty="0"/>
          </a:p>
        </p:txBody>
      </p:sp>
      <p:sp>
        <p:nvSpPr>
          <p:cNvPr id="3" name="Text 1"/>
          <p:cNvSpPr/>
          <p:nvPr>
            <p:ph type="title"/>
          </p:nvPr>
        </p:nvSpPr>
        <p:spPr>
          <a:xfrm>
            <a:off x="812800" y="1375519"/>
            <a:ext cx="10883392" cy="1001812"/>
          </a:xfrm>
          <a:prstGeom prst="rect">
            <a:avLst/>
          </a:prstGeom>
          <a:noFill/>
          <a:ln/>
        </p:spPr>
        <p:txBody>
          <a:bodyPr wrap="square" lIns="0" tIns="0" rIns="0" bIns="0" rtlCol="0" anchor="t">
            <a:normAutofit/>
          </a:bodyPr>
          <a:lstStyle/>
          <a:p>
            <a:pPr algn="l" indent="0" marL="0">
              <a:lnSpc>
                <a:spcPts val="3861"/>
              </a:lnSpc>
              <a:buNone/>
            </a:pPr>
            <a:r>
              <a:rPr lang="en-US" sz="3510" b="1" i="0" dirty="0">
                <a:solidFill>
                  <a:srgbClr val="1E1A45"/>
                </a:solidFill>
                <a:latin typeface="IBM Plex Sans" pitchFamily="34" charset="0"/>
                <a:ea typeface="IBM Plex Sans" pitchFamily="34" charset="-122"/>
                <a:cs typeface="IBM Plex Sans" pitchFamily="34" charset="-120"/>
              </a:rPr>
              <a:t>The spec is the product. Agents compile it into code.</a:t>
            </a:r>
            <a:endParaRPr lang="en-US" sz="3510" dirty="0"/>
          </a:p>
        </p:txBody>
      </p:sp>
      <p:sp>
        <p:nvSpPr>
          <p:cNvPr id="4" name="Shape 2"/>
          <p:cNvSpPr/>
          <p:nvPr/>
        </p:nvSpPr>
        <p:spPr>
          <a:xfrm>
            <a:off x="815975" y="2710706"/>
            <a:ext cx="3384550" cy="2220218"/>
          </a:xfrm>
          <a:prstGeom prst="roundRect">
            <a:avLst>
              <a:gd name="adj" fmla="val 5577"/>
            </a:avLst>
          </a:prstGeom>
          <a:solidFill>
            <a:srgbClr val="FDFCFF"/>
          </a:solidFill>
          <a:ln w="6350">
            <a:solidFill>
              <a:srgbClr val="E2DFF0"/>
            </a:solidFill>
            <a:prstDash val="solid"/>
          </a:ln>
        </p:spPr>
      </p:sp>
      <p:sp>
        <p:nvSpPr>
          <p:cNvPr id="5" name="Text 3"/>
          <p:cNvSpPr/>
          <p:nvPr/>
        </p:nvSpPr>
        <p:spPr>
          <a:xfrm>
            <a:off x="1073150" y="2967881"/>
            <a:ext cx="2956306" cy="22964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6E6A8C"/>
                </a:solidFill>
                <a:latin typeface="JetBrains Mono" pitchFamily="49" charset="0"/>
                <a:ea typeface="JetBrains Mono" pitchFamily="49" charset="-122"/>
                <a:cs typeface="JetBrains Mono" pitchFamily="49" charset="-120"/>
              </a:rPr>
              <a:t>HUMANIFYOS PACK</a:t>
            </a:r>
            <a:endParaRPr lang="en-US" sz="1159" dirty="0"/>
          </a:p>
        </p:txBody>
      </p:sp>
      <p:sp>
        <p:nvSpPr>
          <p:cNvPr id="6" name="Text 4"/>
          <p:cNvSpPr/>
          <p:nvPr/>
        </p:nvSpPr>
        <p:spPr>
          <a:xfrm>
            <a:off x="1073150" y="3273723"/>
            <a:ext cx="2956306" cy="609005"/>
          </a:xfrm>
          <a:prstGeom prst="rect">
            <a:avLst/>
          </a:prstGeom>
          <a:noFill/>
          <a:ln/>
        </p:spPr>
        <p:txBody>
          <a:bodyPr wrap="square" lIns="0" tIns="0" rIns="0" bIns="0" rtlCol="0" anchor="t">
            <a:normAutofit/>
          </a:bodyPr>
          <a:lstStyle/>
          <a:p>
            <a:pPr algn="l" indent="0" marL="0">
              <a:lnSpc>
                <a:spcPts val="4620"/>
              </a:lnSpc>
              <a:buNone/>
            </a:pPr>
            <a:r>
              <a:rPr lang="en-US" sz="4620" b="1" dirty="0">
                <a:solidFill>
                  <a:srgbClr val="5B46C9"/>
                </a:solidFill>
                <a:latin typeface="IBM Plex Sans" pitchFamily="34" charset="0"/>
                <a:ea typeface="IBM Plex Sans" pitchFamily="34" charset="-122"/>
                <a:cs typeface="IBM Plex Sans" pitchFamily="34" charset="-120"/>
              </a:rPr>
              <a:t>600+</a:t>
            </a:r>
            <a:endParaRPr lang="en-US" sz="4620" dirty="0"/>
          </a:p>
        </p:txBody>
      </p:sp>
      <p:sp>
        <p:nvSpPr>
          <p:cNvPr id="7" name="Text 5"/>
          <p:cNvSpPr/>
          <p:nvPr/>
        </p:nvSpPr>
        <p:spPr>
          <a:xfrm>
            <a:off x="1073150" y="3958927"/>
            <a:ext cx="2956306" cy="740221"/>
          </a:xfrm>
          <a:prstGeom prst="rect">
            <a:avLst/>
          </a:prstGeom>
          <a:noFill/>
          <a:ln/>
        </p:spPr>
        <p:txBody>
          <a:bodyPr wrap="square" lIns="0" tIns="0" rIns="0" bIns="0" rtlCol="0" anchor="t">
            <a:normAutofit/>
          </a:bodyPr>
          <a:lstStyle/>
          <a:p>
            <a:pPr algn="l" indent="0" marL="0">
              <a:lnSpc>
                <a:spcPts val="1886"/>
              </a:lnSpc>
              <a:buNone/>
            </a:pPr>
            <a:r>
              <a:rPr lang="en-US" sz="1347" dirty="0">
                <a:solidFill>
                  <a:srgbClr val="4A4766"/>
                </a:solidFill>
                <a:latin typeface="IBM Plex Sans" pitchFamily="34" charset="0"/>
                <a:ea typeface="IBM Plex Sans" pitchFamily="34" charset="-122"/>
                <a:cs typeface="IBM Plex Sans" pitchFamily="34" charset="-120"/>
              </a:rPr>
              <a:t>tickets across 3 programs (platform, admin, end-user UI); 487 planned in one spec pack</a:t>
            </a:r>
            <a:endParaRPr lang="en-US" sz="1347" dirty="0"/>
          </a:p>
        </p:txBody>
      </p:sp>
      <p:sp>
        <p:nvSpPr>
          <p:cNvPr id="8" name="Shape 6"/>
          <p:cNvSpPr/>
          <p:nvPr/>
        </p:nvSpPr>
        <p:spPr>
          <a:xfrm>
            <a:off x="4410075" y="2710706"/>
            <a:ext cx="3384550" cy="2220218"/>
          </a:xfrm>
          <a:prstGeom prst="roundRect">
            <a:avLst>
              <a:gd name="adj" fmla="val 5577"/>
            </a:avLst>
          </a:prstGeom>
          <a:solidFill>
            <a:srgbClr val="FDFCFF"/>
          </a:solidFill>
          <a:ln w="6350">
            <a:solidFill>
              <a:srgbClr val="E2DFF0"/>
            </a:solidFill>
            <a:prstDash val="solid"/>
          </a:ln>
        </p:spPr>
      </p:sp>
      <p:sp>
        <p:nvSpPr>
          <p:cNvPr id="9" name="Text 7"/>
          <p:cNvSpPr/>
          <p:nvPr/>
        </p:nvSpPr>
        <p:spPr>
          <a:xfrm>
            <a:off x="4667250" y="2967881"/>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JetBrains Mono" pitchFamily="49" charset="0"/>
                <a:ea typeface="JetBrains Mono" pitchFamily="49" charset="-122"/>
                <a:cs typeface="JetBrains Mono" pitchFamily="49" charset="-120"/>
              </a:rPr>
              <a:t>TRADITIONAL ESTIMATE</a:t>
            </a:r>
            <a:endParaRPr lang="en-US" sz="1200" dirty="0"/>
          </a:p>
        </p:txBody>
      </p:sp>
      <p:sp>
        <p:nvSpPr>
          <p:cNvPr id="10" name="Text 8"/>
          <p:cNvSpPr/>
          <p:nvPr/>
        </p:nvSpPr>
        <p:spPr>
          <a:xfrm>
            <a:off x="4667250" y="3282801"/>
            <a:ext cx="295630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E1A45"/>
                </a:solidFill>
                <a:latin typeface="IBM Plex Sans" pitchFamily="34" charset="0"/>
                <a:ea typeface="IBM Plex Sans" pitchFamily="34" charset="-122"/>
                <a:cs typeface="IBM Plex Sans" pitchFamily="34" charset="-120"/>
              </a:rPr>
              <a:t>41.3k h</a:t>
            </a:r>
            <a:endParaRPr lang="en-US" sz="4800" dirty="0"/>
          </a:p>
        </p:txBody>
      </p:sp>
      <p:sp>
        <p:nvSpPr>
          <p:cNvPr id="11" name="Text 9"/>
          <p:cNvSpPr/>
          <p:nvPr/>
        </p:nvSpPr>
        <p:spPr>
          <a:xfrm>
            <a:off x="4667250" y="399400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66"/>
                </a:solidFill>
                <a:latin typeface="IBM Plex Sans" pitchFamily="34" charset="0"/>
                <a:ea typeface="IBM Plex Sans" pitchFamily="34" charset="-122"/>
                <a:cs typeface="IBM Plex Sans" pitchFamily="34" charset="-120"/>
              </a:rPr>
              <a:t>18–24 months for a 12–16 person team, about $5.12M</a:t>
            </a:r>
            <a:endParaRPr lang="en-US" sz="1400" dirty="0"/>
          </a:p>
        </p:txBody>
      </p:sp>
      <p:sp>
        <p:nvSpPr>
          <p:cNvPr id="12" name="Shape 10"/>
          <p:cNvSpPr/>
          <p:nvPr/>
        </p:nvSpPr>
        <p:spPr>
          <a:xfrm>
            <a:off x="8001000" y="2707531"/>
            <a:ext cx="3378200" cy="2226568"/>
          </a:xfrm>
          <a:prstGeom prst="roundRect">
            <a:avLst>
              <a:gd name="adj" fmla="val 5704"/>
            </a:avLst>
          </a:prstGeom>
          <a:solidFill>
            <a:srgbClr val="17133A"/>
          </a:solidFill>
          <a:ln/>
        </p:spPr>
      </p:sp>
      <p:sp>
        <p:nvSpPr>
          <p:cNvPr id="13" name="Text 11"/>
          <p:cNvSpPr/>
          <p:nvPr/>
        </p:nvSpPr>
        <p:spPr>
          <a:xfrm>
            <a:off x="8255000" y="2961531"/>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A83A"/>
                </a:solidFill>
                <a:latin typeface="JetBrains Mono" pitchFamily="49" charset="0"/>
                <a:ea typeface="JetBrains Mono" pitchFamily="49" charset="-122"/>
                <a:cs typeface="JetBrains Mono" pitchFamily="49" charset="-120"/>
              </a:rPr>
              <a:t>ACTUAL, CURSOR AGENTS 24/7</a:t>
            </a:r>
            <a:endParaRPr lang="en-US" sz="1200" dirty="0"/>
          </a:p>
        </p:txBody>
      </p:sp>
      <p:sp>
        <p:nvSpPr>
          <p:cNvPr id="14" name="Text 12"/>
          <p:cNvSpPr/>
          <p:nvPr/>
        </p:nvSpPr>
        <p:spPr>
          <a:xfrm>
            <a:off x="8255000" y="3276451"/>
            <a:ext cx="295630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6F5FB"/>
                </a:solidFill>
                <a:latin typeface="IBM Plex Sans" pitchFamily="34" charset="0"/>
                <a:ea typeface="IBM Plex Sans" pitchFamily="34" charset="-122"/>
                <a:cs typeface="IBM Plex Sans" pitchFamily="34" charset="-120"/>
              </a:rPr>
              <a:t>10 days</a:t>
            </a:r>
            <a:endParaRPr lang="en-US" sz="4800" dirty="0"/>
          </a:p>
        </p:txBody>
      </p:sp>
      <p:sp>
        <p:nvSpPr>
          <p:cNvPr id="15" name="Text 13"/>
          <p:cNvSpPr/>
          <p:nvPr/>
        </p:nvSpPr>
        <p:spPr>
          <a:xfrm>
            <a:off x="8255000" y="398765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EC8F0"/>
                </a:solidFill>
                <a:latin typeface="IBM Plex Sans" pitchFamily="34" charset="0"/>
                <a:ea typeface="IBM Plex Sans" pitchFamily="34" charset="-122"/>
                <a:cs typeface="IBM Plex Sans" pitchFamily="34" charset="-120"/>
              </a:rPr>
              <a:t>from first ticket to built, against a 17-day plan</a:t>
            </a:r>
            <a:endParaRPr lang="en-US" sz="1400" dirty="0"/>
          </a:p>
        </p:txBody>
      </p:sp>
      <p:sp>
        <p:nvSpPr>
          <p:cNvPr id="16" name="Text 14"/>
          <p:cNvSpPr/>
          <p:nvPr/>
        </p:nvSpPr>
        <p:spPr>
          <a:xfrm>
            <a:off x="812800" y="5289699"/>
            <a:ext cx="10883392" cy="577701"/>
          </a:xfrm>
          <a:prstGeom prst="rect">
            <a:avLst/>
          </a:prstGeom>
          <a:noFill/>
          <a:ln/>
        </p:spPr>
        <p:txBody>
          <a:bodyPr wrap="square" lIns="0" tIns="0" rIns="0" bIns="0" rtlCol="0" anchor="t">
            <a:normAutofit/>
          </a:bodyPr>
          <a:lstStyle/>
          <a:p>
            <a:pPr algn="l" indent="0" marL="0">
              <a:lnSpc>
                <a:spcPts val="2184"/>
              </a:lnSpc>
              <a:buNone/>
            </a:pPr>
            <a:r>
              <a:rPr lang="en-US" sz="1560" dirty="0">
                <a:solidFill>
                  <a:srgbClr val="4A4766"/>
                </a:solidFill>
                <a:latin typeface="IBM Plex Sans" pitchFamily="34" charset="0"/>
                <a:ea typeface="IBM Plex Sans" pitchFamily="34" charset="-122"/>
                <a:cs typeface="IBM Plex Sans" pitchFamily="34" charset="-120"/>
              </a:rPr>
              <a:t>The work moved upstream. Most of my time went into the spec, the tickets and the rules, not into reviewing code line by line.</a:t>
            </a:r>
            <a:endParaRPr lang="en-US" sz="156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Traditional estimate from the HumanifyOS ELT brief, Oct 2026 · Spec coding with Cursor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26368"/>
          </a:xfrm>
          <a:prstGeom prst="rect">
            <a:avLst/>
          </a:prstGeom>
          <a:noFill/>
          <a:ln/>
        </p:spPr>
        <p:txBody>
          <a:bodyPr wrap="square" lIns="0" tIns="0" rIns="0" bIns="0" rtlCol="0" anchor="t">
            <a:normAutofit/>
          </a:bodyPr>
          <a:lstStyle/>
          <a:p>
            <a:pPr algn="l" indent="0" marL="0">
              <a:lnSpc>
                <a:spcPts val="1622"/>
              </a:lnSpc>
              <a:buNone/>
            </a:pPr>
            <a:r>
              <a:rPr lang="en-US" sz="1159" spc="100" kern="0" dirty="0">
                <a:solidFill>
                  <a:srgbClr val="5B46C9"/>
                </a:solidFill>
                <a:latin typeface="JetBrains Mono" pitchFamily="49" charset="0"/>
                <a:ea typeface="JetBrains Mono" pitchFamily="49" charset="-122"/>
                <a:cs typeface="JetBrains Mono" pitchFamily="49" charset="-120"/>
              </a:rPr>
              <a:t>THE PLAYBOOK</a:t>
            </a:r>
            <a:endParaRPr lang="en-US" sz="1159" dirty="0"/>
          </a:p>
        </p:txBody>
      </p:sp>
      <p:sp>
        <p:nvSpPr>
          <p:cNvPr id="3" name="Text 1"/>
          <p:cNvSpPr/>
          <p:nvPr>
            <p:ph type="title"/>
          </p:nvPr>
        </p:nvSpPr>
        <p:spPr>
          <a:xfrm>
            <a:off x="812800" y="1318568"/>
            <a:ext cx="10883392" cy="499070"/>
          </a:xfrm>
          <a:prstGeom prst="rect">
            <a:avLst/>
          </a:prstGeom>
          <a:noFill/>
          <a:ln/>
        </p:spPr>
        <p:txBody>
          <a:bodyPr wrap="square" lIns="0" tIns="0" rIns="0" bIns="0" rtlCol="0" anchor="t">
            <a:normAutofit/>
          </a:bodyPr>
          <a:lstStyle/>
          <a:p>
            <a:pPr algn="l" indent="0" marL="0">
              <a:lnSpc>
                <a:spcPts val="3774"/>
              </a:lnSpc>
              <a:buNone/>
            </a:pPr>
            <a:r>
              <a:rPr lang="en-US" sz="3431" b="1" i="0" dirty="0">
                <a:solidFill>
                  <a:srgbClr val="1E1A45"/>
                </a:solidFill>
                <a:latin typeface="IBM Plex Sans" pitchFamily="34" charset="0"/>
                <a:ea typeface="IBM Plex Sans" pitchFamily="34" charset="-122"/>
                <a:cs typeface="IBM Plex Sans" pitchFamily="34" charset="-120"/>
              </a:rPr>
              <a:t>Nine practices that made it work</a:t>
            </a:r>
            <a:endParaRPr lang="en-US" sz="3431" dirty="0"/>
          </a:p>
        </p:txBody>
      </p:sp>
      <p:sp>
        <p:nvSpPr>
          <p:cNvPr id="4" name="Shape 2"/>
          <p:cNvSpPr/>
          <p:nvPr/>
        </p:nvSpPr>
        <p:spPr>
          <a:xfrm>
            <a:off x="815975" y="2100213"/>
            <a:ext cx="3414167" cy="1137890"/>
          </a:xfrm>
          <a:prstGeom prst="roundRect">
            <a:avLst>
              <a:gd name="adj" fmla="val 8650"/>
            </a:avLst>
          </a:prstGeom>
          <a:solidFill>
            <a:srgbClr val="FDFCFF"/>
          </a:solidFill>
          <a:ln w="6350">
            <a:solidFill>
              <a:srgbClr val="E2DFF0"/>
            </a:solidFill>
            <a:prstDash val="solid"/>
          </a:ln>
        </p:spPr>
      </p:sp>
      <p:sp>
        <p:nvSpPr>
          <p:cNvPr id="5" name="Text 3"/>
          <p:cNvSpPr/>
          <p:nvPr/>
        </p:nvSpPr>
        <p:spPr>
          <a:xfrm>
            <a:off x="1022350" y="2281188"/>
            <a:ext cx="309145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6C9"/>
                </a:solidFill>
                <a:latin typeface="JetBrains Mono" pitchFamily="49" charset="0"/>
                <a:ea typeface="JetBrains Mono" pitchFamily="49" charset="-122"/>
                <a:cs typeface="JetBrains Mono" pitchFamily="49" charset="-120"/>
              </a:rPr>
              <a:t>01</a:t>
            </a:r>
            <a:endParaRPr lang="en-US" sz="1400" dirty="0"/>
          </a:p>
        </p:txBody>
      </p:sp>
      <p:sp>
        <p:nvSpPr>
          <p:cNvPr id="6" name="Text 4"/>
          <p:cNvSpPr/>
          <p:nvPr/>
        </p:nvSpPr>
        <p:spPr>
          <a:xfrm>
            <a:off x="1022350" y="2580878"/>
            <a:ext cx="3091459"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E1A45"/>
                </a:solidFill>
                <a:latin typeface="IBM Plex Sans" pitchFamily="34" charset="0"/>
                <a:ea typeface="IBM Plex Sans" pitchFamily="34" charset="-122"/>
                <a:cs typeface="IBM Plex Sans" pitchFamily="34" charset="-120"/>
              </a:rPr>
              <a:t>Prep: three inputs into one technical PRD, iterated</a:t>
            </a:r>
            <a:endParaRPr lang="en-US" sz="1500" dirty="0"/>
          </a:p>
        </p:txBody>
      </p:sp>
      <p:sp>
        <p:nvSpPr>
          <p:cNvPr id="7" name="Shape 5"/>
          <p:cNvSpPr/>
          <p:nvPr/>
        </p:nvSpPr>
        <p:spPr>
          <a:xfrm>
            <a:off x="4388892" y="2100213"/>
            <a:ext cx="3414167" cy="1137890"/>
          </a:xfrm>
          <a:prstGeom prst="roundRect">
            <a:avLst>
              <a:gd name="adj" fmla="val 8650"/>
            </a:avLst>
          </a:prstGeom>
          <a:solidFill>
            <a:srgbClr val="FDFCFF"/>
          </a:solidFill>
          <a:ln w="6350">
            <a:solidFill>
              <a:srgbClr val="E2DFF0"/>
            </a:solidFill>
            <a:prstDash val="solid"/>
          </a:ln>
        </p:spPr>
      </p:sp>
      <p:sp>
        <p:nvSpPr>
          <p:cNvPr id="8" name="Text 6"/>
          <p:cNvSpPr/>
          <p:nvPr/>
        </p:nvSpPr>
        <p:spPr>
          <a:xfrm>
            <a:off x="4595267" y="2281188"/>
            <a:ext cx="309145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6C9"/>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4595267" y="2580878"/>
            <a:ext cx="3091459"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E1A45"/>
                </a:solidFill>
                <a:latin typeface="IBM Plex Sans" pitchFamily="34" charset="0"/>
                <a:ea typeface="IBM Plex Sans" pitchFamily="34" charset="-122"/>
                <a:cs typeface="IBM Plex Sans" pitchFamily="34" charset="-120"/>
              </a:rPr>
              <a:t>One prompt that finalizes the technical requirements</a:t>
            </a:r>
            <a:endParaRPr lang="en-US" sz="1500" dirty="0"/>
          </a:p>
        </p:txBody>
      </p:sp>
      <p:sp>
        <p:nvSpPr>
          <p:cNvPr id="10" name="Shape 8"/>
          <p:cNvSpPr/>
          <p:nvPr/>
        </p:nvSpPr>
        <p:spPr>
          <a:xfrm>
            <a:off x="7961809" y="2100213"/>
            <a:ext cx="3414216" cy="1137890"/>
          </a:xfrm>
          <a:prstGeom prst="roundRect">
            <a:avLst>
              <a:gd name="adj" fmla="val 8650"/>
            </a:avLst>
          </a:prstGeom>
          <a:solidFill>
            <a:srgbClr val="FDFCFF"/>
          </a:solidFill>
          <a:ln w="6350">
            <a:solidFill>
              <a:srgbClr val="E2DFF0"/>
            </a:solidFill>
            <a:prstDash val="solid"/>
          </a:ln>
        </p:spPr>
      </p:sp>
      <p:sp>
        <p:nvSpPr>
          <p:cNvPr id="11" name="Text 9"/>
          <p:cNvSpPr/>
          <p:nvPr/>
        </p:nvSpPr>
        <p:spPr>
          <a:xfrm>
            <a:off x="8168184" y="2281188"/>
            <a:ext cx="30915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6C9"/>
                </a:solidFill>
                <a:latin typeface="JetBrains Mono" pitchFamily="49" charset="0"/>
                <a:ea typeface="JetBrains Mono" pitchFamily="49" charset="-122"/>
                <a:cs typeface="JetBrains Mono" pitchFamily="49" charset="-120"/>
              </a:rPr>
              <a:t>03</a:t>
            </a:r>
            <a:endParaRPr lang="en-US" sz="1400" dirty="0"/>
          </a:p>
        </p:txBody>
      </p:sp>
      <p:sp>
        <p:nvSpPr>
          <p:cNvPr id="12" name="Text 10"/>
          <p:cNvSpPr/>
          <p:nvPr/>
        </p:nvSpPr>
        <p:spPr>
          <a:xfrm>
            <a:off x="8168184" y="2580878"/>
            <a:ext cx="3091510"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E1A45"/>
                </a:solidFill>
                <a:latin typeface="IBM Plex Sans" pitchFamily="34" charset="0"/>
                <a:ea typeface="IBM Plex Sans" pitchFamily="34" charset="-122"/>
                <a:cs typeface="IBM Plex Sans" pitchFamily="34" charset="-120"/>
              </a:rPr>
              <a:t>A Jira ticket template, enforced in code</a:t>
            </a:r>
            <a:endParaRPr lang="en-US" sz="1500" dirty="0"/>
          </a:p>
        </p:txBody>
      </p:sp>
      <p:sp>
        <p:nvSpPr>
          <p:cNvPr id="13" name="Shape 11"/>
          <p:cNvSpPr/>
          <p:nvPr/>
        </p:nvSpPr>
        <p:spPr>
          <a:xfrm>
            <a:off x="815975" y="3396853"/>
            <a:ext cx="3414167" cy="1145332"/>
          </a:xfrm>
          <a:prstGeom prst="roundRect">
            <a:avLst>
              <a:gd name="adj" fmla="val 8594"/>
            </a:avLst>
          </a:prstGeom>
          <a:solidFill>
            <a:srgbClr val="FDFCFF"/>
          </a:solidFill>
          <a:ln w="6350">
            <a:solidFill>
              <a:srgbClr val="E2DFF0"/>
            </a:solidFill>
            <a:prstDash val="solid"/>
          </a:ln>
        </p:spPr>
      </p:sp>
      <p:sp>
        <p:nvSpPr>
          <p:cNvPr id="14" name="Text 12"/>
          <p:cNvSpPr/>
          <p:nvPr/>
        </p:nvSpPr>
        <p:spPr>
          <a:xfrm>
            <a:off x="1022350" y="3577828"/>
            <a:ext cx="3091459" cy="214660"/>
          </a:xfrm>
          <a:prstGeom prst="rect">
            <a:avLst/>
          </a:prstGeom>
          <a:noFill/>
          <a:ln/>
        </p:spPr>
        <p:txBody>
          <a:bodyPr wrap="square" lIns="0" tIns="0" rIns="0" bIns="0" rtlCol="0" anchor="t">
            <a:normAutofit/>
          </a:bodyPr>
          <a:lstStyle/>
          <a:p>
            <a:pPr algn="l" indent="0" marL="0">
              <a:lnSpc>
                <a:spcPts val="1519"/>
              </a:lnSpc>
              <a:buNone/>
            </a:pPr>
            <a:r>
              <a:rPr lang="en-US" sz="1085" b="1" dirty="0">
                <a:solidFill>
                  <a:srgbClr val="5B46C9"/>
                </a:solidFill>
                <a:latin typeface="JetBrains Mono" pitchFamily="49" charset="0"/>
                <a:ea typeface="JetBrains Mono" pitchFamily="49" charset="-122"/>
                <a:cs typeface="JetBrains Mono" pitchFamily="49" charset="-120"/>
              </a:rPr>
              <a:t>04</a:t>
            </a:r>
            <a:endParaRPr lang="en-US" sz="1085" dirty="0"/>
          </a:p>
        </p:txBody>
      </p:sp>
      <p:sp>
        <p:nvSpPr>
          <p:cNvPr id="15" name="Text 13"/>
          <p:cNvSpPr/>
          <p:nvPr/>
        </p:nvSpPr>
        <p:spPr>
          <a:xfrm>
            <a:off x="1022350" y="3817888"/>
            <a:ext cx="3091459" cy="568722"/>
          </a:xfrm>
          <a:prstGeom prst="rect">
            <a:avLst/>
          </a:prstGeom>
          <a:noFill/>
          <a:ln/>
        </p:spPr>
        <p:txBody>
          <a:bodyPr wrap="square" lIns="0" tIns="0" rIns="0" bIns="0" rtlCol="0" anchor="t">
            <a:normAutofit/>
          </a:bodyPr>
          <a:lstStyle/>
          <a:p>
            <a:pPr algn="l" indent="0" marL="0">
              <a:lnSpc>
                <a:spcPts val="1799"/>
              </a:lnSpc>
              <a:buNone/>
            </a:pPr>
            <a:r>
              <a:rPr lang="en-US" sz="1439" b="1" dirty="0">
                <a:solidFill>
                  <a:srgbClr val="1E1A45"/>
                </a:solidFill>
                <a:latin typeface="IBM Plex Sans" pitchFamily="34" charset="0"/>
                <a:ea typeface="IBM Plex Sans" pitchFamily="34" charset="-122"/>
                <a:cs typeface="IBM Plex Sans" pitchFamily="34" charset="-120"/>
              </a:rPr>
              <a:t>Skills layered on your requirements and grounded in the spec</a:t>
            </a:r>
            <a:endParaRPr lang="en-US" sz="1439" dirty="0"/>
          </a:p>
        </p:txBody>
      </p:sp>
      <p:sp>
        <p:nvSpPr>
          <p:cNvPr id="16" name="Shape 14"/>
          <p:cNvSpPr/>
          <p:nvPr/>
        </p:nvSpPr>
        <p:spPr>
          <a:xfrm>
            <a:off x="4388892" y="3396853"/>
            <a:ext cx="3414167" cy="1145332"/>
          </a:xfrm>
          <a:prstGeom prst="roundRect">
            <a:avLst>
              <a:gd name="adj" fmla="val 8594"/>
            </a:avLst>
          </a:prstGeom>
          <a:solidFill>
            <a:srgbClr val="FDFCFF"/>
          </a:solidFill>
          <a:ln w="6350">
            <a:solidFill>
              <a:srgbClr val="E2DFF0"/>
            </a:solidFill>
            <a:prstDash val="solid"/>
          </a:ln>
        </p:spPr>
      </p:sp>
      <p:sp>
        <p:nvSpPr>
          <p:cNvPr id="17" name="Text 15"/>
          <p:cNvSpPr/>
          <p:nvPr/>
        </p:nvSpPr>
        <p:spPr>
          <a:xfrm>
            <a:off x="4595267" y="3577828"/>
            <a:ext cx="309145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6C9"/>
                </a:solidFill>
                <a:latin typeface="JetBrains Mono" pitchFamily="49" charset="0"/>
                <a:ea typeface="JetBrains Mono" pitchFamily="49" charset="-122"/>
                <a:cs typeface="JetBrains Mono" pitchFamily="49" charset="-120"/>
              </a:rPr>
              <a:t>05</a:t>
            </a:r>
            <a:endParaRPr lang="en-US" sz="1400" dirty="0"/>
          </a:p>
        </p:txBody>
      </p:sp>
      <p:sp>
        <p:nvSpPr>
          <p:cNvPr id="18" name="Text 16"/>
          <p:cNvSpPr/>
          <p:nvPr/>
        </p:nvSpPr>
        <p:spPr>
          <a:xfrm>
            <a:off x="4595267" y="3877518"/>
            <a:ext cx="309145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E1A45"/>
                </a:solidFill>
                <a:latin typeface="IBM Plex Sans" pitchFamily="34" charset="0"/>
                <a:ea typeface="IBM Plex Sans" pitchFamily="34" charset="-122"/>
                <a:cs typeface="IBM Plex Sans" pitchFamily="34" charset="-120"/>
              </a:rPr>
              <a:t>Model selection by ticket size</a:t>
            </a:r>
            <a:endParaRPr lang="en-US" sz="1500" dirty="0"/>
          </a:p>
        </p:txBody>
      </p:sp>
      <p:sp>
        <p:nvSpPr>
          <p:cNvPr id="19" name="Shape 17"/>
          <p:cNvSpPr/>
          <p:nvPr/>
        </p:nvSpPr>
        <p:spPr>
          <a:xfrm>
            <a:off x="7961809" y="3396853"/>
            <a:ext cx="3414216" cy="1145332"/>
          </a:xfrm>
          <a:prstGeom prst="roundRect">
            <a:avLst>
              <a:gd name="adj" fmla="val 8594"/>
            </a:avLst>
          </a:prstGeom>
          <a:solidFill>
            <a:srgbClr val="FDFCFF"/>
          </a:solidFill>
          <a:ln w="6350">
            <a:solidFill>
              <a:srgbClr val="E2DFF0"/>
            </a:solidFill>
            <a:prstDash val="solid"/>
          </a:ln>
        </p:spPr>
      </p:sp>
      <p:sp>
        <p:nvSpPr>
          <p:cNvPr id="20" name="Text 18"/>
          <p:cNvSpPr/>
          <p:nvPr/>
        </p:nvSpPr>
        <p:spPr>
          <a:xfrm>
            <a:off x="8168184" y="3577828"/>
            <a:ext cx="30915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6C9"/>
                </a:solidFill>
                <a:latin typeface="JetBrains Mono" pitchFamily="49" charset="0"/>
                <a:ea typeface="JetBrains Mono" pitchFamily="49" charset="-122"/>
                <a:cs typeface="JetBrains Mono" pitchFamily="49" charset="-120"/>
              </a:rPr>
              <a:t>06</a:t>
            </a:r>
            <a:endParaRPr lang="en-US" sz="1400" dirty="0"/>
          </a:p>
        </p:txBody>
      </p:sp>
      <p:sp>
        <p:nvSpPr>
          <p:cNvPr id="21" name="Text 19"/>
          <p:cNvSpPr/>
          <p:nvPr/>
        </p:nvSpPr>
        <p:spPr>
          <a:xfrm>
            <a:off x="8168184" y="3877518"/>
            <a:ext cx="3091510"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E1A45"/>
                </a:solidFill>
                <a:latin typeface="IBM Plex Sans" pitchFamily="34" charset="0"/>
                <a:ea typeface="IBM Plex Sans" pitchFamily="34" charset="-122"/>
                <a:cs typeface="IBM Plex Sans" pitchFamily="34" charset="-120"/>
              </a:rPr>
              <a:t>Unit testing over and above normal</a:t>
            </a:r>
            <a:endParaRPr lang="en-US" sz="1500" dirty="0"/>
          </a:p>
        </p:txBody>
      </p:sp>
      <p:sp>
        <p:nvSpPr>
          <p:cNvPr id="22" name="Shape 20"/>
          <p:cNvSpPr/>
          <p:nvPr/>
        </p:nvSpPr>
        <p:spPr>
          <a:xfrm>
            <a:off x="815975" y="4700935"/>
            <a:ext cx="3414167" cy="1137890"/>
          </a:xfrm>
          <a:prstGeom prst="roundRect">
            <a:avLst>
              <a:gd name="adj" fmla="val 8650"/>
            </a:avLst>
          </a:prstGeom>
          <a:solidFill>
            <a:srgbClr val="FDFCFF"/>
          </a:solidFill>
          <a:ln w="6350">
            <a:solidFill>
              <a:srgbClr val="E2DFF0"/>
            </a:solidFill>
            <a:prstDash val="solid"/>
          </a:ln>
        </p:spPr>
      </p:sp>
      <p:sp>
        <p:nvSpPr>
          <p:cNvPr id="23" name="Text 21"/>
          <p:cNvSpPr/>
          <p:nvPr/>
        </p:nvSpPr>
        <p:spPr>
          <a:xfrm>
            <a:off x="1022350" y="4881910"/>
            <a:ext cx="309145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6C9"/>
                </a:solidFill>
                <a:latin typeface="JetBrains Mono" pitchFamily="49" charset="0"/>
                <a:ea typeface="JetBrains Mono" pitchFamily="49" charset="-122"/>
                <a:cs typeface="JetBrains Mono" pitchFamily="49" charset="-120"/>
              </a:rPr>
              <a:t>07</a:t>
            </a:r>
            <a:endParaRPr lang="en-US" sz="1400" dirty="0"/>
          </a:p>
        </p:txBody>
      </p:sp>
      <p:sp>
        <p:nvSpPr>
          <p:cNvPr id="24" name="Text 22"/>
          <p:cNvSpPr/>
          <p:nvPr/>
        </p:nvSpPr>
        <p:spPr>
          <a:xfrm>
            <a:off x="1022350" y="5181600"/>
            <a:ext cx="3091459"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E1A45"/>
                </a:solidFill>
                <a:latin typeface="IBM Plex Sans" pitchFamily="34" charset="0"/>
                <a:ea typeface="IBM Plex Sans" pitchFamily="34" charset="-122"/>
                <a:cs typeface="IBM Plex Sans" pitchFamily="34" charset="-120"/>
              </a:rPr>
              <a:t>Take nothing for granted: test every click</a:t>
            </a:r>
            <a:endParaRPr lang="en-US" sz="1500" dirty="0"/>
          </a:p>
        </p:txBody>
      </p:sp>
      <p:sp>
        <p:nvSpPr>
          <p:cNvPr id="25" name="Shape 23"/>
          <p:cNvSpPr/>
          <p:nvPr/>
        </p:nvSpPr>
        <p:spPr>
          <a:xfrm>
            <a:off x="4388892" y="4700935"/>
            <a:ext cx="3414167" cy="1137890"/>
          </a:xfrm>
          <a:prstGeom prst="roundRect">
            <a:avLst>
              <a:gd name="adj" fmla="val 8650"/>
            </a:avLst>
          </a:prstGeom>
          <a:solidFill>
            <a:srgbClr val="FDFCFF"/>
          </a:solidFill>
          <a:ln w="6350">
            <a:solidFill>
              <a:srgbClr val="E2DFF0"/>
            </a:solidFill>
            <a:prstDash val="solid"/>
          </a:ln>
        </p:spPr>
      </p:sp>
      <p:sp>
        <p:nvSpPr>
          <p:cNvPr id="26" name="Text 24"/>
          <p:cNvSpPr/>
          <p:nvPr/>
        </p:nvSpPr>
        <p:spPr>
          <a:xfrm>
            <a:off x="4595267" y="4881910"/>
            <a:ext cx="309145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6C9"/>
                </a:solidFill>
                <a:latin typeface="JetBrains Mono" pitchFamily="49" charset="0"/>
                <a:ea typeface="JetBrains Mono" pitchFamily="49" charset="-122"/>
                <a:cs typeface="JetBrains Mono" pitchFamily="49" charset="-120"/>
              </a:rPr>
              <a:t>08</a:t>
            </a:r>
            <a:endParaRPr lang="en-US" sz="1400" dirty="0"/>
          </a:p>
        </p:txBody>
      </p:sp>
      <p:sp>
        <p:nvSpPr>
          <p:cNvPr id="27" name="Text 25"/>
          <p:cNvSpPr/>
          <p:nvPr/>
        </p:nvSpPr>
        <p:spPr>
          <a:xfrm>
            <a:off x="4595267" y="5181600"/>
            <a:ext cx="3091459"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E1A45"/>
                </a:solidFill>
                <a:latin typeface="IBM Plex Sans" pitchFamily="34" charset="0"/>
                <a:ea typeface="IBM Plex Sans" pitchFamily="34" charset="-122"/>
                <a:cs typeface="IBM Plex Sans" pitchFamily="34" charset="-120"/>
              </a:rPr>
              <a:t>Automate 100%: scripts, installs, Terraform</a:t>
            </a:r>
            <a:endParaRPr lang="en-US" sz="1500" dirty="0"/>
          </a:p>
        </p:txBody>
      </p:sp>
      <p:sp>
        <p:nvSpPr>
          <p:cNvPr id="28" name="Shape 26"/>
          <p:cNvSpPr/>
          <p:nvPr/>
        </p:nvSpPr>
        <p:spPr>
          <a:xfrm>
            <a:off x="7961809" y="4700935"/>
            <a:ext cx="3414216" cy="1137890"/>
          </a:xfrm>
          <a:prstGeom prst="roundRect">
            <a:avLst>
              <a:gd name="adj" fmla="val 8650"/>
            </a:avLst>
          </a:prstGeom>
          <a:solidFill>
            <a:srgbClr val="FDFCFF"/>
          </a:solidFill>
          <a:ln w="6350">
            <a:solidFill>
              <a:srgbClr val="E2DFF0"/>
            </a:solidFill>
            <a:prstDash val="solid"/>
          </a:ln>
        </p:spPr>
      </p:sp>
      <p:sp>
        <p:nvSpPr>
          <p:cNvPr id="29" name="Text 27"/>
          <p:cNvSpPr/>
          <p:nvPr/>
        </p:nvSpPr>
        <p:spPr>
          <a:xfrm>
            <a:off x="8168184" y="4881910"/>
            <a:ext cx="30915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6C9"/>
                </a:solidFill>
                <a:latin typeface="JetBrains Mono" pitchFamily="49" charset="0"/>
                <a:ea typeface="JetBrains Mono" pitchFamily="49" charset="-122"/>
                <a:cs typeface="JetBrains Mono" pitchFamily="49" charset="-120"/>
              </a:rPr>
              <a:t>09</a:t>
            </a:r>
            <a:endParaRPr lang="en-US" sz="1400" dirty="0"/>
          </a:p>
        </p:txBody>
      </p:sp>
      <p:sp>
        <p:nvSpPr>
          <p:cNvPr id="30" name="Text 28"/>
          <p:cNvSpPr/>
          <p:nvPr/>
        </p:nvSpPr>
        <p:spPr>
          <a:xfrm>
            <a:off x="8168184" y="5181600"/>
            <a:ext cx="309151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E1A45"/>
                </a:solidFill>
                <a:latin typeface="IBM Plex Sans" pitchFamily="34" charset="0"/>
                <a:ea typeface="IBM Plex Sans" pitchFamily="34" charset="-122"/>
                <a:cs typeface="IBM Plex Sans" pitchFamily="34" charset="-120"/>
              </a:rPr>
              <a:t>Docs updated with every ticket</a:t>
            </a:r>
            <a:endParaRPr lang="en-US" sz="1500" dirty="0"/>
          </a:p>
        </p:txBody>
      </p:sp>
      <p:sp>
        <p:nvSpPr>
          <p:cNvPr id="31" name="Text 2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Spec coding with Cursor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01 · PREP</a:t>
            </a:r>
            <a:endParaRPr lang="en-US" sz="1200" dirty="0"/>
          </a:p>
        </p:txBody>
      </p:sp>
      <p:sp>
        <p:nvSpPr>
          <p:cNvPr id="3" name="Text 1"/>
          <p:cNvSpPr/>
          <p:nvPr>
            <p:ph type="title"/>
          </p:nvPr>
        </p:nvSpPr>
        <p:spPr>
          <a:xfrm>
            <a:off x="812800" y="1330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Three inputs become one technical PRD</a:t>
            </a:r>
            <a:endParaRPr lang="en-US" sz="3600" dirty="0"/>
          </a:p>
        </p:txBody>
      </p:sp>
      <p:sp>
        <p:nvSpPr>
          <p:cNvPr id="4" name="Shape 2"/>
          <p:cNvSpPr/>
          <p:nvPr/>
        </p:nvSpPr>
        <p:spPr>
          <a:xfrm>
            <a:off x="815975" y="2141786"/>
            <a:ext cx="3549650" cy="829270"/>
          </a:xfrm>
          <a:prstGeom prst="roundRect">
            <a:avLst>
              <a:gd name="adj" fmla="val 11869"/>
            </a:avLst>
          </a:prstGeom>
          <a:solidFill>
            <a:srgbClr val="FDFCFF"/>
          </a:solidFill>
          <a:ln w="6350">
            <a:solidFill>
              <a:srgbClr val="E2DFF0"/>
            </a:solidFill>
            <a:prstDash val="solid"/>
          </a:ln>
        </p:spPr>
      </p:sp>
      <p:sp>
        <p:nvSpPr>
          <p:cNvPr id="5" name="Text 3"/>
          <p:cNvSpPr/>
          <p:nvPr/>
        </p:nvSpPr>
        <p:spPr>
          <a:xfrm>
            <a:off x="1022350" y="2297361"/>
            <a:ext cx="32310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1A45"/>
                </a:solidFill>
                <a:latin typeface="IBM Plex Sans" pitchFamily="34" charset="0"/>
                <a:ea typeface="IBM Plex Sans" pitchFamily="34" charset="-122"/>
                <a:cs typeface="IBM Plex Sans" pitchFamily="34" charset="-120"/>
              </a:rPr>
              <a:t>Business and product</a:t>
            </a:r>
            <a:endParaRPr lang="en-US" sz="1500" dirty="0"/>
          </a:p>
        </p:txBody>
      </p:sp>
      <p:sp>
        <p:nvSpPr>
          <p:cNvPr id="6" name="Text 4"/>
          <p:cNvSpPr/>
          <p:nvPr/>
        </p:nvSpPr>
        <p:spPr>
          <a:xfrm>
            <a:off x="1022350" y="2602161"/>
            <a:ext cx="32310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Plain-English functions, features, personas</a:t>
            </a:r>
            <a:endParaRPr lang="en-US" sz="1200" dirty="0"/>
          </a:p>
        </p:txBody>
      </p:sp>
      <p:sp>
        <p:nvSpPr>
          <p:cNvPr id="7" name="Shape 5"/>
          <p:cNvSpPr/>
          <p:nvPr/>
        </p:nvSpPr>
        <p:spPr>
          <a:xfrm>
            <a:off x="815975" y="3104406"/>
            <a:ext cx="3549650" cy="829270"/>
          </a:xfrm>
          <a:prstGeom prst="roundRect">
            <a:avLst>
              <a:gd name="adj" fmla="val 11869"/>
            </a:avLst>
          </a:prstGeom>
          <a:solidFill>
            <a:srgbClr val="FDFCFF"/>
          </a:solidFill>
          <a:ln w="6350">
            <a:solidFill>
              <a:srgbClr val="E2DFF0"/>
            </a:solidFill>
            <a:prstDash val="solid"/>
          </a:ln>
        </p:spPr>
      </p:sp>
      <p:sp>
        <p:nvSpPr>
          <p:cNvPr id="8" name="Text 6"/>
          <p:cNvSpPr/>
          <p:nvPr/>
        </p:nvSpPr>
        <p:spPr>
          <a:xfrm>
            <a:off x="1022350" y="3259981"/>
            <a:ext cx="32310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1A45"/>
                </a:solidFill>
                <a:latin typeface="IBM Plex Sans" pitchFamily="34" charset="0"/>
                <a:ea typeface="IBM Plex Sans" pitchFamily="34" charset="-122"/>
                <a:cs typeface="IBM Plex Sans" pitchFamily="34" charset="-120"/>
              </a:rPr>
              <a:t>Example screens</a:t>
            </a:r>
            <a:endParaRPr lang="en-US" sz="1500" dirty="0"/>
          </a:p>
        </p:txBody>
      </p:sp>
      <p:sp>
        <p:nvSpPr>
          <p:cNvPr id="9" name="Text 7"/>
          <p:cNvSpPr/>
          <p:nvPr/>
        </p:nvSpPr>
        <p:spPr>
          <a:xfrm>
            <a:off x="1022350" y="3564781"/>
            <a:ext cx="32310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HTML mocks, videos, screenshots</a:t>
            </a:r>
            <a:endParaRPr lang="en-US" sz="1200" dirty="0"/>
          </a:p>
        </p:txBody>
      </p:sp>
      <p:sp>
        <p:nvSpPr>
          <p:cNvPr id="10" name="Shape 8"/>
          <p:cNvSpPr/>
          <p:nvPr/>
        </p:nvSpPr>
        <p:spPr>
          <a:xfrm>
            <a:off x="815975" y="4067026"/>
            <a:ext cx="3549650" cy="829270"/>
          </a:xfrm>
          <a:prstGeom prst="roundRect">
            <a:avLst>
              <a:gd name="adj" fmla="val 11869"/>
            </a:avLst>
          </a:prstGeom>
          <a:solidFill>
            <a:srgbClr val="FDFCFF"/>
          </a:solidFill>
          <a:ln w="6350">
            <a:solidFill>
              <a:srgbClr val="E2DFF0"/>
            </a:solidFill>
            <a:prstDash val="solid"/>
          </a:ln>
        </p:spPr>
      </p:sp>
      <p:sp>
        <p:nvSpPr>
          <p:cNvPr id="11" name="Text 9"/>
          <p:cNvSpPr/>
          <p:nvPr/>
        </p:nvSpPr>
        <p:spPr>
          <a:xfrm>
            <a:off x="1022350" y="4222601"/>
            <a:ext cx="32310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1A45"/>
                </a:solidFill>
                <a:latin typeface="IBM Plex Sans" pitchFamily="34" charset="0"/>
                <a:ea typeface="IBM Plex Sans" pitchFamily="34" charset="-122"/>
                <a:cs typeface="IBM Plex Sans" pitchFamily="34" charset="-120"/>
              </a:rPr>
              <a:t>Technical requirements</a:t>
            </a:r>
            <a:endParaRPr lang="en-US" sz="1500" dirty="0"/>
          </a:p>
        </p:txBody>
      </p:sp>
      <p:sp>
        <p:nvSpPr>
          <p:cNvPr id="12" name="Text 10"/>
          <p:cNvSpPr/>
          <p:nvPr/>
        </p:nvSpPr>
        <p:spPr>
          <a:xfrm>
            <a:off x="1022350" y="4527401"/>
            <a:ext cx="32310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Stack locks, flows, data, integrations</a:t>
            </a:r>
            <a:endParaRPr lang="en-US" sz="1200" dirty="0"/>
          </a:p>
        </p:txBody>
      </p:sp>
      <p:pic>
        <p:nvPicPr>
          <p:cNvPr id="13" name="Image 0" descr="arrow-right">    </p:cNvPr>
          <p:cNvPicPr>
            <a:picLocks noChangeAspect="1"/>
          </p:cNvPicPr>
          <p:nvPr/>
        </p:nvPicPr>
        <p:blipFill>
          <a:blip r:embed="rId1"/>
          <a:srcRect l="0" r="0" t="0" b="0"/>
          <a:stretch/>
        </p:blipFill>
        <p:spPr>
          <a:xfrm>
            <a:off x="4572000" y="3315841"/>
            <a:ext cx="762000" cy="406400"/>
          </a:xfrm>
          <a:prstGeom prst="rect">
            <a:avLst/>
          </a:prstGeom>
        </p:spPr>
      </p:pic>
      <p:sp>
        <p:nvSpPr>
          <p:cNvPr id="14" name="Shape 11"/>
          <p:cNvSpPr/>
          <p:nvPr/>
        </p:nvSpPr>
        <p:spPr>
          <a:xfrm>
            <a:off x="5537200" y="2355106"/>
            <a:ext cx="5842000" cy="2327870"/>
          </a:xfrm>
          <a:prstGeom prst="roundRect">
            <a:avLst>
              <a:gd name="adj" fmla="val 5456"/>
            </a:avLst>
          </a:prstGeom>
          <a:solidFill>
            <a:srgbClr val="17133A"/>
          </a:solidFill>
          <a:ln/>
        </p:spPr>
      </p:sp>
      <p:sp>
        <p:nvSpPr>
          <p:cNvPr id="15" name="Text 12"/>
          <p:cNvSpPr/>
          <p:nvPr/>
        </p:nvSpPr>
        <p:spPr>
          <a:xfrm>
            <a:off x="5791200" y="2609106"/>
            <a:ext cx="5494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A83A"/>
                </a:solidFill>
                <a:latin typeface="JetBrains Mono" pitchFamily="49" charset="0"/>
                <a:ea typeface="JetBrains Mono" pitchFamily="49" charset="-122"/>
                <a:cs typeface="JetBrains Mono" pitchFamily="49" charset="-120"/>
              </a:rPr>
              <a:t>ONE TECHNICAL PRD</a:t>
            </a:r>
            <a:endParaRPr lang="en-US" sz="1200" dirty="0"/>
          </a:p>
        </p:txBody>
      </p:sp>
      <p:sp>
        <p:nvSpPr>
          <p:cNvPr id="16" name="Text 13"/>
          <p:cNvSpPr/>
          <p:nvPr/>
        </p:nvSpPr>
        <p:spPr>
          <a:xfrm>
            <a:off x="5791200" y="2949426"/>
            <a:ext cx="549402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FB"/>
                </a:solidFill>
                <a:latin typeface="IBM Plex Sans" pitchFamily="34" charset="0"/>
                <a:ea typeface="IBM Plex Sans" pitchFamily="34" charset="-122"/>
                <a:cs typeface="IBM Plex Sans" pitchFamily="34" charset="-120"/>
              </a:rPr>
              <a:t>Broken into components and systems, then iterated many times until complete</a:t>
            </a:r>
            <a:endParaRPr lang="en-US" sz="2000" dirty="0"/>
          </a:p>
        </p:txBody>
      </p:sp>
      <p:sp>
        <p:nvSpPr>
          <p:cNvPr id="17" name="Text 14"/>
          <p:cNvSpPr/>
          <p:nvPr/>
        </p:nvSpPr>
        <p:spPr>
          <a:xfrm>
            <a:off x="5876544" y="3686026"/>
            <a:ext cx="5401056" cy="7683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CEC8F0"/>
                </a:solidFill>
                <a:latin typeface="IBM Plex Sans" pitchFamily="34" charset="0"/>
                <a:ea typeface="IBM Plex Sans" pitchFamily="34" charset="-122"/>
                <a:cs typeface="IBM Plex Sans" pitchFamily="34" charset="-120"/>
              </a:rPr>
              <a:t>Requirements ledger: every item gets an ID and a source</a:t>
            </a:r>
            <a:endParaRPr lang="en-US" sz="1300" dirty="0"/>
          </a:p>
          <a:p>
            <a:pPr algn="l" marL="168656" indent="-168656">
              <a:lnSpc>
                <a:spcPts val="1950"/>
              </a:lnSpc>
              <a:buSzPct val="100000"/>
              <a:buChar char="•"/>
            </a:pPr>
            <a:r>
              <a:rPr lang="en-US" sz="1300" dirty="0">
                <a:solidFill>
                  <a:srgbClr val="CEC8F0"/>
                </a:solidFill>
                <a:latin typeface="IBM Plex Sans" pitchFamily="34" charset="0"/>
                <a:ea typeface="IBM Plex Sans" pitchFamily="34" charset="-122"/>
                <a:cs typeface="IBM Plex Sans" pitchFamily="34" charset="-120"/>
              </a:rPr>
              <a:t>Gap report: contradictions, stubs, missing pieces</a:t>
            </a:r>
            <a:endParaRPr lang="en-US" sz="1300" dirty="0"/>
          </a:p>
          <a:p>
            <a:pPr algn="l" marL="168656" indent="-168656">
              <a:lnSpc>
                <a:spcPts val="1950"/>
              </a:lnSpc>
              <a:buSzPct val="100000"/>
              <a:buChar char="•"/>
            </a:pPr>
            <a:r>
              <a:rPr lang="en-US" sz="1300" dirty="0">
                <a:solidFill>
                  <a:srgbClr val="CEC8F0"/>
                </a:solidFill>
                <a:latin typeface="IBM Plex Sans" pitchFamily="34" charset="0"/>
                <a:ea typeface="IBM Plex Sans" pitchFamily="34" charset="-122"/>
                <a:cs typeface="IBM Plex Sans" pitchFamily="34" charset="-120"/>
              </a:rPr>
              <a:t>Freeze file: decisions locked, assumptions written down</a:t>
            </a:r>
            <a:endParaRPr lang="en-US" sz="1300" dirty="0"/>
          </a:p>
        </p:txBody>
      </p:sp>
      <p:sp>
        <p:nvSpPr>
          <p:cNvPr id="18" name="Text 15"/>
          <p:cNvSpPr/>
          <p:nvPr/>
        </p:nvSpPr>
        <p:spPr>
          <a:xfrm>
            <a:off x="812800" y="5204271"/>
            <a:ext cx="10883392"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A45"/>
                </a:solidFill>
                <a:latin typeface="IBM Plex Sans" pitchFamily="34" charset="0"/>
                <a:ea typeface="IBM Plex Sans" pitchFamily="34" charset="-122"/>
                <a:cs typeface="IBM Plex Sans" pitchFamily="34" charset="-120"/>
              </a:rPr>
              <a:t>In HumanifyOS:</a:t>
            </a:r>
            <a:r>
              <a:rPr lang="en-US" sz="1400" dirty="0">
                <a:solidFill>
                  <a:srgbClr val="4A4766"/>
                </a:solidFill>
                <a:latin typeface="IBM Plex Sans" pitchFamily="34" charset="0"/>
                <a:ea typeface="IBM Plex Sans" pitchFamily="34" charset="-122"/>
                <a:cs typeface="IBM Plex Sans" pitchFamily="34" charset="-120"/>
              </a:rPr>
              <a:t> a 181-row ledger and a 60-row gap report for the LOOM data module alone, a decisions log with rulings numbered past Q-400, and pack versions v1.0 to v3.4.</a:t>
            </a:r>
            <a:endParaRPr lang="en-US" sz="14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Spec coding with Cursor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01 · PREP NEVER ENDS</a:t>
            </a:r>
            <a:endParaRPr lang="en-US" sz="1200" dirty="0"/>
          </a:p>
        </p:txBody>
      </p:sp>
      <p:sp>
        <p:nvSpPr>
          <p:cNvPr id="3" name="Text 1"/>
          <p:cNvSpPr/>
          <p:nvPr>
            <p:ph type="title"/>
          </p:nvPr>
        </p:nvSpPr>
        <p:spPr>
          <a:xfrm>
            <a:off x="812800" y="1330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The spec kept growing during the build</a:t>
            </a:r>
            <a:endParaRPr lang="en-US" sz="3600" dirty="0"/>
          </a:p>
        </p:txBody>
      </p:sp>
      <p:sp>
        <p:nvSpPr>
          <p:cNvPr id="4" name="Shape 2"/>
          <p:cNvSpPr/>
          <p:nvPr/>
        </p:nvSpPr>
        <p:spPr>
          <a:xfrm>
            <a:off x="815975" y="2141786"/>
            <a:ext cx="2946400" cy="1890961"/>
          </a:xfrm>
          <a:prstGeom prst="roundRect">
            <a:avLst>
              <a:gd name="adj" fmla="val 6548"/>
            </a:avLst>
          </a:prstGeom>
          <a:solidFill>
            <a:srgbClr val="FDFCFF"/>
          </a:solidFill>
          <a:ln w="6350">
            <a:solidFill>
              <a:srgbClr val="E2DFF0"/>
            </a:solidFill>
            <a:prstDash val="solid"/>
          </a:ln>
        </p:spPr>
      </p:sp>
      <p:sp>
        <p:nvSpPr>
          <p:cNvPr id="5" name="Text 3"/>
          <p:cNvSpPr/>
          <p:nvPr/>
        </p:nvSpPr>
        <p:spPr>
          <a:xfrm>
            <a:off x="1073150" y="2398961"/>
            <a:ext cx="25050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JetBrains Mono" pitchFamily="49" charset="0"/>
                <a:ea typeface="JetBrains Mono" pitchFamily="49" charset="-122"/>
                <a:cs typeface="JetBrains Mono" pitchFamily="49" charset="-120"/>
              </a:rPr>
              <a:t>PLANNED</a:t>
            </a:r>
            <a:endParaRPr lang="en-US" sz="1200" dirty="0"/>
          </a:p>
        </p:txBody>
      </p:sp>
      <p:sp>
        <p:nvSpPr>
          <p:cNvPr id="6" name="Text 4"/>
          <p:cNvSpPr/>
          <p:nvPr/>
        </p:nvSpPr>
        <p:spPr>
          <a:xfrm>
            <a:off x="1073150" y="2688481"/>
            <a:ext cx="250501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E1A45"/>
                </a:solidFill>
                <a:latin typeface="IBM Plex Sans" pitchFamily="34" charset="0"/>
                <a:ea typeface="IBM Plex Sans" pitchFamily="34" charset="-122"/>
                <a:cs typeface="IBM Plex Sans" pitchFamily="34" charset="-120"/>
              </a:rPr>
              <a:t>487</a:t>
            </a:r>
            <a:endParaRPr lang="en-US" sz="6000" dirty="0"/>
          </a:p>
        </p:txBody>
      </p:sp>
      <p:sp>
        <p:nvSpPr>
          <p:cNvPr id="7" name="Text 5"/>
          <p:cNvSpPr/>
          <p:nvPr/>
        </p:nvSpPr>
        <p:spPr>
          <a:xfrm>
            <a:off x="1073150" y="3526681"/>
            <a:ext cx="2505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66"/>
                </a:solidFill>
                <a:latin typeface="IBM Plex Sans" pitchFamily="34" charset="0"/>
                <a:ea typeface="IBM Plex Sans" pitchFamily="34" charset="-122"/>
                <a:cs typeface="IBM Plex Sans" pitchFamily="34" charset="-120"/>
              </a:rPr>
              <a:t>tickets in the first Jira import</a:t>
            </a:r>
            <a:endParaRPr lang="en-US" sz="1400" dirty="0"/>
          </a:p>
        </p:txBody>
      </p:sp>
      <p:pic>
        <p:nvPicPr>
          <p:cNvPr id="8" name="Image 0" descr="arrow-right">    </p:cNvPr>
          <p:cNvPicPr>
            <a:picLocks noChangeAspect="1"/>
          </p:cNvPicPr>
          <p:nvPr/>
        </p:nvPicPr>
        <p:blipFill>
          <a:blip r:embed="rId1"/>
          <a:srcRect l="0" r="0" t="0" b="0"/>
          <a:stretch/>
        </p:blipFill>
        <p:spPr>
          <a:xfrm>
            <a:off x="3968750" y="2884041"/>
            <a:ext cx="762000" cy="406400"/>
          </a:xfrm>
          <a:prstGeom prst="rect">
            <a:avLst/>
          </a:prstGeom>
        </p:spPr>
      </p:pic>
      <p:sp>
        <p:nvSpPr>
          <p:cNvPr id="9" name="Shape 6"/>
          <p:cNvSpPr/>
          <p:nvPr/>
        </p:nvSpPr>
        <p:spPr>
          <a:xfrm>
            <a:off x="4933950" y="2144961"/>
            <a:ext cx="2940050" cy="1884611"/>
          </a:xfrm>
          <a:prstGeom prst="roundRect">
            <a:avLst>
              <a:gd name="adj" fmla="val 6739"/>
            </a:avLst>
          </a:prstGeom>
          <a:solidFill>
            <a:srgbClr val="17133A"/>
          </a:solidFill>
          <a:ln/>
        </p:spPr>
      </p:sp>
      <p:sp>
        <p:nvSpPr>
          <p:cNvPr id="10" name="Text 7"/>
          <p:cNvSpPr/>
          <p:nvPr/>
        </p:nvSpPr>
        <p:spPr>
          <a:xfrm>
            <a:off x="5187950" y="2398961"/>
            <a:ext cx="25050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A83A"/>
                </a:solidFill>
                <a:latin typeface="JetBrains Mono" pitchFamily="49" charset="0"/>
                <a:ea typeface="JetBrains Mono" pitchFamily="49" charset="-122"/>
                <a:cs typeface="JetBrains Mono" pitchFamily="49" charset="-120"/>
              </a:rPr>
              <a:t>BUILT</a:t>
            </a:r>
            <a:endParaRPr lang="en-US" sz="1200" dirty="0"/>
          </a:p>
        </p:txBody>
      </p:sp>
      <p:sp>
        <p:nvSpPr>
          <p:cNvPr id="11" name="Text 8"/>
          <p:cNvSpPr/>
          <p:nvPr/>
        </p:nvSpPr>
        <p:spPr>
          <a:xfrm>
            <a:off x="5187950" y="2688481"/>
            <a:ext cx="250501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6F5FB"/>
                </a:solidFill>
                <a:latin typeface="IBM Plex Sans" pitchFamily="34" charset="0"/>
                <a:ea typeface="IBM Plex Sans" pitchFamily="34" charset="-122"/>
                <a:cs typeface="IBM Plex Sans" pitchFamily="34" charset="-120"/>
              </a:rPr>
              <a:t>600+</a:t>
            </a:r>
            <a:endParaRPr lang="en-US" sz="6000" dirty="0"/>
          </a:p>
        </p:txBody>
      </p:sp>
      <p:sp>
        <p:nvSpPr>
          <p:cNvPr id="12" name="Text 9"/>
          <p:cNvSpPr/>
          <p:nvPr/>
        </p:nvSpPr>
        <p:spPr>
          <a:xfrm>
            <a:off x="5187950" y="3526681"/>
            <a:ext cx="2505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EC8F0"/>
                </a:solidFill>
                <a:latin typeface="IBM Plex Sans" pitchFamily="34" charset="0"/>
                <a:ea typeface="IBM Plex Sans" pitchFamily="34" charset="-122"/>
                <a:cs typeface="IBM Plex Sans" pitchFamily="34" charset="-120"/>
              </a:rPr>
              <a:t>tickets by the end, in 10 days</a:t>
            </a:r>
            <a:endParaRPr lang="en-US" sz="1400" dirty="0"/>
          </a:p>
        </p:txBody>
      </p:sp>
      <p:sp>
        <p:nvSpPr>
          <p:cNvPr id="13" name="Text 10"/>
          <p:cNvSpPr/>
          <p:nvPr/>
        </p:nvSpPr>
        <p:spPr>
          <a:xfrm>
            <a:off x="8077200" y="2544068"/>
            <a:ext cx="34010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B46C9"/>
                </a:solidFill>
                <a:latin typeface="IBM Plex Sans" pitchFamily="34" charset="0"/>
                <a:ea typeface="IBM Plex Sans" pitchFamily="34" charset="-122"/>
                <a:cs typeface="IBM Plex Sans" pitchFamily="34" charset="-120"/>
              </a:rPr>
              <a:t>120+ tickets nobody planned</a:t>
            </a:r>
            <a:endParaRPr lang="en-US" sz="1500" dirty="0"/>
          </a:p>
        </p:txBody>
      </p:sp>
      <p:sp>
        <p:nvSpPr>
          <p:cNvPr id="14" name="Text 11"/>
          <p:cNvSpPr/>
          <p:nvPr/>
        </p:nvSpPr>
        <p:spPr>
          <a:xfrm>
            <a:off x="8162544" y="2912368"/>
            <a:ext cx="3308096" cy="743496"/>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1E1A45"/>
                </a:solidFill>
                <a:latin typeface="IBM Plex Sans" pitchFamily="34" charset="0"/>
                <a:ea typeface="IBM Plex Sans" pitchFamily="34" charset="-122"/>
                <a:cs typeface="IBM Plex Sans" pitchFamily="34" charset="-120"/>
              </a:rPr>
              <a:t>Holes: things the spec never defined</a:t>
            </a:r>
            <a:endParaRPr lang="en-US" sz="1300" dirty="0"/>
          </a:p>
          <a:p>
            <a:pPr algn="l" marL="168656" indent="-168656">
              <a:lnSpc>
                <a:spcPts val="1885"/>
              </a:lnSpc>
              <a:buSzPct val="100000"/>
              <a:buChar char="•"/>
            </a:pPr>
            <a:r>
              <a:rPr lang="en-US" sz="1300" dirty="0">
                <a:solidFill>
                  <a:srgbClr val="1E1A45"/>
                </a:solidFill>
                <a:latin typeface="IBM Plex Sans" pitchFamily="34" charset="0"/>
                <a:ea typeface="IBM Plex Sans" pitchFamily="34" charset="-122"/>
                <a:cs typeface="IBM Plex Sans" pitchFamily="34" charset="-120"/>
              </a:rPr>
              <a:t>Updates: things the spec defined wrong</a:t>
            </a:r>
            <a:endParaRPr lang="en-US" sz="1300" dirty="0"/>
          </a:p>
          <a:p>
            <a:pPr algn="l" marL="168656" indent="-168656">
              <a:lnSpc>
                <a:spcPts val="1885"/>
              </a:lnSpc>
              <a:buSzPct val="100000"/>
              <a:buChar char="•"/>
            </a:pPr>
            <a:r>
              <a:rPr lang="en-US" sz="1300" dirty="0">
                <a:solidFill>
                  <a:srgbClr val="1E1A45"/>
                </a:solidFill>
                <a:latin typeface="IBM Plex Sans" pitchFamily="34" charset="0"/>
                <a:ea typeface="IBM Plex Sans" pitchFamily="34" charset="-122"/>
                <a:cs typeface="IBM Plex Sans" pitchFamily="34" charset="-120"/>
              </a:rPr>
              <a:t>Bug fixes: things that did not work</a:t>
            </a:r>
            <a:endParaRPr lang="en-US" sz="1300" dirty="0"/>
          </a:p>
        </p:txBody>
      </p:sp>
      <p:sp>
        <p:nvSpPr>
          <p:cNvPr id="15" name="Text 12"/>
          <p:cNvSpPr/>
          <p:nvPr/>
        </p:nvSpPr>
        <p:spPr>
          <a:xfrm>
            <a:off x="812800" y="4340721"/>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1A45"/>
                </a:solidFill>
                <a:latin typeface="IBM Plex Sans" pitchFamily="34" charset="0"/>
                <a:ea typeface="IBM Plex Sans" pitchFamily="34" charset="-122"/>
                <a:cs typeface="IBM Plex Sans" pitchFamily="34" charset="-120"/>
              </a:rPr>
              <a:t>Budget about 25% for discovered work,</a:t>
            </a:r>
            <a:r>
              <a:rPr lang="en-US" sz="1500" dirty="0">
                <a:solidFill>
                  <a:srgbClr val="4A4766"/>
                </a:solidFill>
                <a:latin typeface="IBM Plex Sans" pitchFamily="34" charset="0"/>
                <a:ea typeface="IBM Plex Sans" pitchFamily="34" charset="-122"/>
                <a:cs typeface="IBM Plex Sans" pitchFamily="34" charset="-120"/>
              </a:rPr>
              <a:t> and put every new ticket through the same template and generators, so the spec stays the source of truth.</a:t>
            </a:r>
            <a:endParaRPr lang="en-US" sz="15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Spec coding with Cursor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02 · THE PROMPT</a:t>
            </a:r>
            <a:endParaRPr lang="en-US" sz="1200" dirty="0"/>
          </a:p>
        </p:txBody>
      </p:sp>
      <p:sp>
        <p:nvSpPr>
          <p:cNvPr id="3" name="Text 1"/>
          <p:cNvSpPr/>
          <p:nvPr>
            <p:ph type="title"/>
          </p:nvPr>
        </p:nvSpPr>
        <p:spPr>
          <a:xfrm>
            <a:off x="812800" y="128012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/build-pack: the prompt behind every spec folder</a:t>
            </a:r>
            <a:endParaRPr lang="en-US" sz="3600" dirty="0"/>
          </a:p>
        </p:txBody>
      </p:sp>
      <p:sp>
        <p:nvSpPr>
          <p:cNvPr id="4" name="Shape 2"/>
          <p:cNvSpPr/>
          <p:nvPr/>
        </p:nvSpPr>
        <p:spPr>
          <a:xfrm>
            <a:off x="812800" y="2037011"/>
            <a:ext cx="4826000" cy="3522613"/>
          </a:xfrm>
          <a:prstGeom prst="roundRect">
            <a:avLst>
              <a:gd name="adj" fmla="val 3605"/>
            </a:avLst>
          </a:prstGeom>
          <a:solidFill>
            <a:srgbClr val="17133A"/>
          </a:solidFill>
          <a:ln/>
        </p:spPr>
      </p:sp>
      <p:sp>
        <p:nvSpPr>
          <p:cNvPr id="5" name="Text 3"/>
          <p:cNvSpPr/>
          <p:nvPr/>
        </p:nvSpPr>
        <p:spPr>
          <a:xfrm>
            <a:off x="1066800" y="2291011"/>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A83A"/>
                </a:solidFill>
                <a:latin typeface="JetBrains Mono" pitchFamily="49" charset="0"/>
                <a:ea typeface="JetBrains Mono" pitchFamily="49" charset="-122"/>
                <a:cs typeface="JetBrains Mono" pitchFamily="49" charset="-120"/>
              </a:rPr>
              <a:t>build-pack/SKILL.md · opening</a:t>
            </a:r>
            <a:endParaRPr lang="en-US" sz="1200" dirty="0"/>
          </a:p>
        </p:txBody>
      </p:sp>
      <p:sp>
        <p:nvSpPr>
          <p:cNvPr id="6" name="Text 4"/>
          <p:cNvSpPr/>
          <p:nvPr/>
        </p:nvSpPr>
        <p:spPr>
          <a:xfrm>
            <a:off x="1066800" y="2605931"/>
            <a:ext cx="4447540" cy="1678732"/>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E9E6FA"/>
                </a:solidFill>
                <a:latin typeface="JetBrains Mono" pitchFamily="49" charset="0"/>
                <a:ea typeface="JetBrains Mono" pitchFamily="49" charset="-122"/>
                <a:cs typeface="JetBrains Mono" pitchFamily="49" charset="-120"/>
              </a:rPr>
              <a:t>You are the principal architect and delivery lead for the project. Turn everything available (the conversation, every attached document and pack, the newest material) into ONE final build pack, better than any of its inputs and complete enough that a coding harness that knows nothing can build the whole system 0→1.</a:t>
            </a:r>
            <a:endParaRPr lang="en-US" sz="1200" dirty="0"/>
          </a:p>
        </p:txBody>
      </p:sp>
      <p:sp>
        <p:nvSpPr>
          <p:cNvPr id="7" name="Text 5"/>
          <p:cNvSpPr/>
          <p:nvPr/>
        </p:nvSpPr>
        <p:spPr>
          <a:xfrm>
            <a:off x="1066800" y="4360863"/>
            <a:ext cx="4447540" cy="97016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CEC8F0"/>
                </a:solidFill>
                <a:latin typeface="JetBrains Mono" pitchFamily="49" charset="0"/>
                <a:ea typeface="JetBrains Mono" pitchFamily="49" charset="-122"/>
                <a:cs typeface="JetBrains Mono" pitchFamily="49" charset="-120"/>
              </a:rPr>
              <a:t>Do not ask clarifying questions unless a decision is irreversible. Take the most reasonable reading, record it as an assumption, keep going.</a:t>
            </a:r>
            <a:endParaRPr lang="en-US" sz="1200" dirty="0"/>
          </a:p>
        </p:txBody>
      </p:sp>
      <p:sp>
        <p:nvSpPr>
          <p:cNvPr id="8" name="Text 6"/>
          <p:cNvSpPr/>
          <p:nvPr/>
        </p:nvSpPr>
        <p:spPr>
          <a:xfrm>
            <a:off x="5892800" y="2037011"/>
            <a:ext cx="56509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6C9"/>
                </a:solidFill>
                <a:latin typeface="IBM Plex Sans" pitchFamily="34" charset="0"/>
                <a:ea typeface="IBM Plex Sans" pitchFamily="34" charset="-122"/>
                <a:cs typeface="IBM Plex Sans" pitchFamily="34" charset="-120"/>
              </a:rPr>
              <a:t>Its non-negotiable rules</a:t>
            </a:r>
            <a:endParaRPr lang="en-US" sz="1400" dirty="0"/>
          </a:p>
        </p:txBody>
      </p:sp>
      <p:sp>
        <p:nvSpPr>
          <p:cNvPr id="9" name="Text 7"/>
          <p:cNvSpPr/>
          <p:nvPr/>
        </p:nvSpPr>
        <p:spPr>
          <a:xfrm>
            <a:off x="5949752" y="2374801"/>
            <a:ext cx="5586420" cy="1767632"/>
          </a:xfrm>
          <a:prstGeom prst="rect">
            <a:avLst/>
          </a:prstGeom>
          <a:noFill/>
          <a:ln/>
        </p:spPr>
        <p:txBody>
          <a:bodyPr wrap="square" lIns="0" tIns="0" rIns="0" bIns="0" rtlCol="0" anchor="t">
            <a:normAutofit/>
          </a:bodyPr>
          <a:lstStyle/>
          <a:p>
            <a:pPr algn="l" marL="197048" indent="-197048">
              <a:lnSpc>
                <a:spcPts val="1960"/>
              </a:lnSpc>
              <a:buSzPct val="100000"/>
              <a:buFontTx/>
              <a:buAutoNum type="arabicPeriod" startAt="1"/>
            </a:pPr>
            <a:r>
              <a:rPr lang="en-US" sz="1400" b="1" dirty="0">
                <a:solidFill>
                  <a:srgbClr val="1E1A45"/>
                </a:solidFill>
                <a:latin typeface="IBM Plex Sans" pitchFamily="34" charset="0"/>
                <a:ea typeface="IBM Plex Sans" pitchFamily="34" charset="-122"/>
                <a:cs typeface="IBM Plex Sans" pitchFamily="34" charset="-120"/>
              </a:rPr>
              <a:t>Read everything, in full.</a:t>
            </a:r>
            <a:r>
              <a:rPr lang="en-US" sz="1400" dirty="0">
                <a:solidFill>
                  <a:srgbClr val="1E1A45"/>
                </a:solidFill>
                <a:latin typeface="IBM Plex Sans" pitchFamily="34" charset="0"/>
                <a:ea typeface="IBM Plex Sans" pitchFamily="34" charset="-122"/>
                <a:cs typeface="IBM Plex Sans" pitchFamily="34" charset="-120"/>
              </a:rPr>
              <a:t> Skimming is a failure.</a:t>
            </a:r>
            <a:endParaRPr lang="en-US" sz="1400" dirty="0"/>
          </a:p>
          <a:p>
            <a:pPr algn="l" marL="197048" indent="-197048">
              <a:lnSpc>
                <a:spcPts val="1960"/>
              </a:lnSpc>
              <a:buSzPct val="100000"/>
              <a:buFontTx/>
              <a:buAutoNum type="arabicPeriod" startAt="1"/>
            </a:pPr>
            <a:r>
              <a:rPr lang="en-US" sz="1400" b="1" dirty="0">
                <a:solidFill>
                  <a:srgbClr val="1E1A45"/>
                </a:solidFill>
                <a:latin typeface="IBM Plex Sans" pitchFamily="34" charset="0"/>
                <a:ea typeface="IBM Plex Sans" pitchFamily="34" charset="-122"/>
                <a:cs typeface="IBM Plex Sans" pitchFamily="34" charset="-120"/>
              </a:rPr>
              <a:t>Nothing is lost.</a:t>
            </a:r>
            <a:r>
              <a:rPr lang="en-US" sz="1400" dirty="0">
                <a:solidFill>
                  <a:srgbClr val="1E1A45"/>
                </a:solidFill>
                <a:latin typeface="IBM Plex Sans" pitchFamily="34" charset="0"/>
                <a:ea typeface="IBM Plex Sans" pitchFamily="34" charset="-122"/>
                <a:cs typeface="IBM Plex Sans" pitchFamily="34" charset="-120"/>
              </a:rPr>
              <a:t> Every requirement gets a ledger row.</a:t>
            </a:r>
            <a:endParaRPr lang="en-US" sz="1400" dirty="0"/>
          </a:p>
          <a:p>
            <a:pPr algn="l" marL="197048" indent="-197048">
              <a:lnSpc>
                <a:spcPts val="1960"/>
              </a:lnSpc>
              <a:buSzPct val="100000"/>
              <a:buFontTx/>
              <a:buAutoNum type="arabicPeriod" startAt="1"/>
            </a:pPr>
            <a:r>
              <a:rPr lang="en-US" sz="1400" b="1" dirty="0">
                <a:solidFill>
                  <a:srgbClr val="1E1A45"/>
                </a:solidFill>
                <a:latin typeface="IBM Plex Sans" pitchFamily="34" charset="0"/>
                <a:ea typeface="IBM Plex Sans" pitchFamily="34" charset="-122"/>
                <a:cs typeface="IBM Plex Sans" pitchFamily="34" charset="-120"/>
              </a:rPr>
              <a:t>Newest wins for stack; the union wins for features.</a:t>
            </a:r>
            <a:endParaRPr lang="en-US" sz="1400" dirty="0"/>
          </a:p>
          <a:p>
            <a:pPr algn="l" marL="197048" indent="-197048">
              <a:lnSpc>
                <a:spcPts val="1960"/>
              </a:lnSpc>
              <a:buSzPct val="100000"/>
              <a:buFontTx/>
              <a:buAutoNum type="arabicPeriod" startAt="1"/>
            </a:pPr>
            <a:r>
              <a:rPr lang="en-US" sz="1400" b="1" dirty="0">
                <a:solidFill>
                  <a:srgbClr val="1E1A45"/>
                </a:solidFill>
                <a:latin typeface="IBM Plex Sans" pitchFamily="34" charset="0"/>
                <a:ea typeface="IBM Plex Sans" pitchFamily="34" charset="-122"/>
                <a:cs typeface="IBM Plex Sans" pitchFamily="34" charset="-120"/>
              </a:rPr>
              <a:t>Interrogate before you merge.</a:t>
            </a:r>
            <a:endParaRPr lang="en-US" sz="1400" dirty="0"/>
          </a:p>
          <a:p>
            <a:pPr algn="l" marL="197048" indent="-197048">
              <a:lnSpc>
                <a:spcPts val="1960"/>
              </a:lnSpc>
              <a:buSzPct val="100000"/>
              <a:buFontTx/>
              <a:buAutoNum type="arabicPeriod" startAt="1"/>
            </a:pPr>
            <a:r>
              <a:rPr lang="en-US" sz="1400" b="1" dirty="0">
                <a:solidFill>
                  <a:srgbClr val="1E1A45"/>
                </a:solidFill>
                <a:latin typeface="IBM Plex Sans" pitchFamily="34" charset="0"/>
                <a:ea typeface="IBM Plex Sans" pitchFamily="34" charset="-122"/>
                <a:cs typeface="IBM Plex Sans" pitchFamily="34" charset="-120"/>
              </a:rPr>
              <a:t>The harness knows nothing.</a:t>
            </a:r>
            <a:r>
              <a:rPr lang="en-US" sz="1400" dirty="0">
                <a:solidFill>
                  <a:srgbClr val="1E1A45"/>
                </a:solidFill>
                <a:latin typeface="IBM Plex Sans" pitchFamily="34" charset="0"/>
                <a:ea typeface="IBM Plex Sans" pitchFamily="34" charset="-122"/>
                <a:cs typeface="IBM Plex Sans" pitchFamily="34" charset="-120"/>
              </a:rPr>
              <a:t> Exact names beat descriptions.</a:t>
            </a:r>
            <a:endParaRPr lang="en-US" sz="1400" dirty="0"/>
          </a:p>
          <a:p>
            <a:pPr algn="l" marL="197048" indent="-197048">
              <a:lnSpc>
                <a:spcPts val="1960"/>
              </a:lnSpc>
              <a:buSzPct val="100000"/>
              <a:buFontTx/>
              <a:buAutoNum type="arabicPeriod" startAt="1"/>
            </a:pPr>
            <a:r>
              <a:rPr lang="en-US" sz="1400" b="1" dirty="0">
                <a:solidFill>
                  <a:srgbClr val="1E1A45"/>
                </a:solidFill>
                <a:latin typeface="IBM Plex Sans" pitchFamily="34" charset="0"/>
                <a:ea typeface="IBM Plex Sans" pitchFamily="34" charset="-122"/>
                <a:cs typeface="IBM Plex Sans" pitchFamily="34" charset="-120"/>
              </a:rPr>
              <a:t>Validate with code, not confidence.</a:t>
            </a:r>
            <a:endParaRPr lang="en-US" sz="1400" dirty="0"/>
          </a:p>
          <a:p>
            <a:pPr algn="l" marL="197048" indent="-197048">
              <a:lnSpc>
                <a:spcPts val="1960"/>
              </a:lnSpc>
              <a:buSzPct val="100000"/>
              <a:buFontTx/>
              <a:buAutoNum type="arabicPeriod" startAt="1"/>
            </a:pPr>
            <a:r>
              <a:rPr lang="en-US" sz="1400" b="1" dirty="0">
                <a:solidFill>
                  <a:srgbClr val="1E1A45"/>
                </a:solidFill>
                <a:latin typeface="IBM Plex Sans" pitchFamily="34" charset="0"/>
                <a:ea typeface="IBM Plex Sans" pitchFamily="34" charset="-122"/>
                <a:cs typeface="IBM Plex Sans" pitchFamily="34" charset="-120"/>
              </a:rPr>
              <a:t>Design for the fastest build:</a:t>
            </a:r>
            <a:r>
              <a:rPr lang="en-US" sz="1400" dirty="0">
                <a:solidFill>
                  <a:srgbClr val="1E1A45"/>
                </a:solidFill>
                <a:latin typeface="IBM Plex Sans" pitchFamily="34" charset="0"/>
                <a:ea typeface="IBM Plex Sans" pitchFamily="34" charset="-122"/>
                <a:cs typeface="IBM Plex Sans" pitchFamily="34" charset="-120"/>
              </a:rPr>
              <a:t> contracts first, folder locks.</a:t>
            </a:r>
            <a:endParaRPr lang="en-US" sz="14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Excerpted from the build-pack skill (~31 KB) · Spec coding with Cursor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02 · THE PROMPT, PHASE BY PHASE</a:t>
            </a:r>
            <a:endParaRPr lang="en-US" sz="1200" dirty="0"/>
          </a:p>
        </p:txBody>
      </p:sp>
      <p:sp>
        <p:nvSpPr>
          <p:cNvPr id="3" name="Text 1"/>
          <p:cNvSpPr/>
          <p:nvPr>
            <p:ph type="title"/>
          </p:nvPr>
        </p:nvSpPr>
        <p:spPr>
          <a:xfrm>
            <a:off x="812800" y="13055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Nine phases, from scattered inputs to a validated pack</a:t>
            </a:r>
            <a:endParaRPr lang="en-US" sz="3600" dirty="0"/>
          </a:p>
        </p:txBody>
      </p:sp>
      <p:sp>
        <p:nvSpPr>
          <p:cNvPr id="4" name="Shape 2"/>
          <p:cNvSpPr/>
          <p:nvPr/>
        </p:nvSpPr>
        <p:spPr>
          <a:xfrm>
            <a:off x="815975" y="2593876"/>
            <a:ext cx="1101328" cy="725091"/>
          </a:xfrm>
          <a:prstGeom prst="roundRect">
            <a:avLst>
              <a:gd name="adj" fmla="val 11823"/>
            </a:avLst>
          </a:prstGeom>
          <a:solidFill>
            <a:srgbClr val="FDFCFF"/>
          </a:solidFill>
          <a:ln w="6350">
            <a:solidFill>
              <a:srgbClr val="E2DFF0"/>
            </a:solidFill>
            <a:prstDash val="solid"/>
          </a:ln>
        </p:spPr>
      </p:sp>
      <p:sp>
        <p:nvSpPr>
          <p:cNvPr id="5" name="Text 3"/>
          <p:cNvSpPr/>
          <p:nvPr/>
        </p:nvSpPr>
        <p:spPr>
          <a:xfrm>
            <a:off x="933450" y="2724051"/>
            <a:ext cx="917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6C9"/>
                </a:solidFill>
                <a:latin typeface="JetBrains Mono" pitchFamily="49" charset="0"/>
                <a:ea typeface="JetBrains Mono" pitchFamily="49" charset="-122"/>
                <a:cs typeface="JetBrains Mono" pitchFamily="49" charset="-120"/>
              </a:rPr>
              <a:t>0</a:t>
            </a:r>
            <a:endParaRPr lang="en-US" sz="1200" dirty="0"/>
          </a:p>
        </p:txBody>
      </p:sp>
      <p:sp>
        <p:nvSpPr>
          <p:cNvPr id="6" name="Text 4"/>
          <p:cNvSpPr/>
          <p:nvPr/>
        </p:nvSpPr>
        <p:spPr>
          <a:xfrm>
            <a:off x="933450" y="2975471"/>
            <a:ext cx="917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A45"/>
                </a:solidFill>
                <a:latin typeface="IBM Plex Sans" pitchFamily="34" charset="0"/>
                <a:ea typeface="IBM Plex Sans" pitchFamily="34" charset="-122"/>
                <a:cs typeface="IBM Plex Sans" pitchFamily="34" charset="-120"/>
              </a:rPr>
              <a:t>Intake</a:t>
            </a:r>
            <a:endParaRPr lang="en-US" sz="1200" dirty="0"/>
          </a:p>
        </p:txBody>
      </p:sp>
      <p:sp>
        <p:nvSpPr>
          <p:cNvPr id="7" name="Shape 5"/>
          <p:cNvSpPr/>
          <p:nvPr/>
        </p:nvSpPr>
        <p:spPr>
          <a:xfrm>
            <a:off x="1999853" y="2593876"/>
            <a:ext cx="1101378" cy="725091"/>
          </a:xfrm>
          <a:prstGeom prst="roundRect">
            <a:avLst>
              <a:gd name="adj" fmla="val 11823"/>
            </a:avLst>
          </a:prstGeom>
          <a:solidFill>
            <a:srgbClr val="FDFCFF"/>
          </a:solidFill>
          <a:ln w="6350">
            <a:solidFill>
              <a:srgbClr val="E2DFF0"/>
            </a:solidFill>
            <a:prstDash val="solid"/>
          </a:ln>
        </p:spPr>
      </p:sp>
      <p:sp>
        <p:nvSpPr>
          <p:cNvPr id="8" name="Text 6"/>
          <p:cNvSpPr/>
          <p:nvPr/>
        </p:nvSpPr>
        <p:spPr>
          <a:xfrm>
            <a:off x="2117328" y="2724051"/>
            <a:ext cx="917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6C9"/>
                </a:solidFill>
                <a:latin typeface="JetBrains Mono" pitchFamily="49" charset="0"/>
                <a:ea typeface="JetBrains Mono" pitchFamily="49" charset="-122"/>
                <a:cs typeface="JetBrains Mono" pitchFamily="49" charset="-120"/>
              </a:rPr>
              <a:t>1</a:t>
            </a:r>
            <a:endParaRPr lang="en-US" sz="1200" dirty="0"/>
          </a:p>
        </p:txBody>
      </p:sp>
      <p:sp>
        <p:nvSpPr>
          <p:cNvPr id="9" name="Text 7"/>
          <p:cNvSpPr/>
          <p:nvPr/>
        </p:nvSpPr>
        <p:spPr>
          <a:xfrm>
            <a:off x="2117328" y="2975471"/>
            <a:ext cx="9172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A45"/>
                </a:solidFill>
                <a:latin typeface="IBM Plex Sans" pitchFamily="34" charset="0"/>
                <a:ea typeface="IBM Plex Sans" pitchFamily="34" charset="-122"/>
                <a:cs typeface="IBM Plex Sans" pitchFamily="34" charset="-120"/>
              </a:rPr>
              <a:t>Gaps</a:t>
            </a:r>
            <a:endParaRPr lang="en-US" sz="1200" dirty="0"/>
          </a:p>
        </p:txBody>
      </p:sp>
      <p:sp>
        <p:nvSpPr>
          <p:cNvPr id="10" name="Shape 8"/>
          <p:cNvSpPr/>
          <p:nvPr/>
        </p:nvSpPr>
        <p:spPr>
          <a:xfrm>
            <a:off x="3183781" y="2593876"/>
            <a:ext cx="1101378" cy="725091"/>
          </a:xfrm>
          <a:prstGeom prst="roundRect">
            <a:avLst>
              <a:gd name="adj" fmla="val 11823"/>
            </a:avLst>
          </a:prstGeom>
          <a:solidFill>
            <a:srgbClr val="FDFCFF"/>
          </a:solidFill>
          <a:ln w="6350">
            <a:solidFill>
              <a:srgbClr val="E2DFF0"/>
            </a:solidFill>
            <a:prstDash val="solid"/>
          </a:ln>
        </p:spPr>
      </p:sp>
      <p:sp>
        <p:nvSpPr>
          <p:cNvPr id="11" name="Text 9"/>
          <p:cNvSpPr/>
          <p:nvPr/>
        </p:nvSpPr>
        <p:spPr>
          <a:xfrm>
            <a:off x="3301256" y="2724051"/>
            <a:ext cx="917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6C9"/>
                </a:solidFill>
                <a:latin typeface="JetBrains Mono" pitchFamily="49" charset="0"/>
                <a:ea typeface="JetBrains Mono" pitchFamily="49" charset="-122"/>
                <a:cs typeface="JetBrains Mono" pitchFamily="49" charset="-120"/>
              </a:rPr>
              <a:t>2</a:t>
            </a:r>
            <a:endParaRPr lang="en-US" sz="1200" dirty="0"/>
          </a:p>
        </p:txBody>
      </p:sp>
      <p:sp>
        <p:nvSpPr>
          <p:cNvPr id="12" name="Text 10"/>
          <p:cNvSpPr/>
          <p:nvPr/>
        </p:nvSpPr>
        <p:spPr>
          <a:xfrm>
            <a:off x="3301256" y="2975471"/>
            <a:ext cx="9172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A45"/>
                </a:solidFill>
                <a:latin typeface="IBM Plex Sans" pitchFamily="34" charset="0"/>
                <a:ea typeface="IBM Plex Sans" pitchFamily="34" charset="-122"/>
                <a:cs typeface="IBM Plex Sans" pitchFamily="34" charset="-120"/>
              </a:rPr>
              <a:t>Freeze</a:t>
            </a:r>
            <a:endParaRPr lang="en-US" sz="1200" dirty="0"/>
          </a:p>
        </p:txBody>
      </p:sp>
      <p:sp>
        <p:nvSpPr>
          <p:cNvPr id="13" name="Shape 11"/>
          <p:cNvSpPr/>
          <p:nvPr/>
        </p:nvSpPr>
        <p:spPr>
          <a:xfrm>
            <a:off x="4367709" y="2593876"/>
            <a:ext cx="1101378" cy="725091"/>
          </a:xfrm>
          <a:prstGeom prst="roundRect">
            <a:avLst>
              <a:gd name="adj" fmla="val 11823"/>
            </a:avLst>
          </a:prstGeom>
          <a:solidFill>
            <a:srgbClr val="FDFCFF"/>
          </a:solidFill>
          <a:ln w="6350">
            <a:solidFill>
              <a:srgbClr val="E2DFF0"/>
            </a:solidFill>
            <a:prstDash val="solid"/>
          </a:ln>
        </p:spPr>
      </p:sp>
      <p:sp>
        <p:nvSpPr>
          <p:cNvPr id="14" name="Text 12"/>
          <p:cNvSpPr/>
          <p:nvPr/>
        </p:nvSpPr>
        <p:spPr>
          <a:xfrm>
            <a:off x="4485184" y="2724051"/>
            <a:ext cx="917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6C9"/>
                </a:solidFill>
                <a:latin typeface="JetBrains Mono" pitchFamily="49" charset="0"/>
                <a:ea typeface="JetBrains Mono" pitchFamily="49" charset="-122"/>
                <a:cs typeface="JetBrains Mono" pitchFamily="49" charset="-120"/>
              </a:rPr>
              <a:t>3</a:t>
            </a:r>
            <a:endParaRPr lang="en-US" sz="1200" dirty="0"/>
          </a:p>
        </p:txBody>
      </p:sp>
      <p:sp>
        <p:nvSpPr>
          <p:cNvPr id="15" name="Text 13"/>
          <p:cNvSpPr/>
          <p:nvPr/>
        </p:nvSpPr>
        <p:spPr>
          <a:xfrm>
            <a:off x="4485184" y="2975471"/>
            <a:ext cx="9172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A45"/>
                </a:solidFill>
                <a:latin typeface="IBM Plex Sans" pitchFamily="34" charset="0"/>
                <a:ea typeface="IBM Plex Sans" pitchFamily="34" charset="-122"/>
                <a:cs typeface="IBM Plex Sans" pitchFamily="34" charset="-120"/>
              </a:rPr>
              <a:t>Spec</a:t>
            </a:r>
            <a:endParaRPr lang="en-US" sz="1200" dirty="0"/>
          </a:p>
        </p:txBody>
      </p:sp>
      <p:sp>
        <p:nvSpPr>
          <p:cNvPr id="16" name="Shape 14"/>
          <p:cNvSpPr/>
          <p:nvPr/>
        </p:nvSpPr>
        <p:spPr>
          <a:xfrm>
            <a:off x="5551636" y="2593876"/>
            <a:ext cx="1101378" cy="725091"/>
          </a:xfrm>
          <a:prstGeom prst="roundRect">
            <a:avLst>
              <a:gd name="adj" fmla="val 11823"/>
            </a:avLst>
          </a:prstGeom>
          <a:solidFill>
            <a:srgbClr val="FDFCFF"/>
          </a:solidFill>
          <a:ln w="6350">
            <a:solidFill>
              <a:srgbClr val="E2DFF0"/>
            </a:solidFill>
            <a:prstDash val="solid"/>
          </a:ln>
        </p:spPr>
      </p:sp>
      <p:sp>
        <p:nvSpPr>
          <p:cNvPr id="17" name="Text 15"/>
          <p:cNvSpPr/>
          <p:nvPr/>
        </p:nvSpPr>
        <p:spPr>
          <a:xfrm>
            <a:off x="5669111" y="2724051"/>
            <a:ext cx="917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6C9"/>
                </a:solidFill>
                <a:latin typeface="JetBrains Mono" pitchFamily="49" charset="0"/>
                <a:ea typeface="JetBrains Mono" pitchFamily="49" charset="-122"/>
                <a:cs typeface="JetBrains Mono" pitchFamily="49" charset="-120"/>
              </a:rPr>
              <a:t>4</a:t>
            </a:r>
            <a:endParaRPr lang="en-US" sz="1200" dirty="0"/>
          </a:p>
        </p:txBody>
      </p:sp>
      <p:sp>
        <p:nvSpPr>
          <p:cNvPr id="18" name="Text 16"/>
          <p:cNvSpPr/>
          <p:nvPr/>
        </p:nvSpPr>
        <p:spPr>
          <a:xfrm>
            <a:off x="5669111" y="2975471"/>
            <a:ext cx="9172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A45"/>
                </a:solidFill>
                <a:latin typeface="IBM Plex Sans" pitchFamily="34" charset="0"/>
                <a:ea typeface="IBM Plex Sans" pitchFamily="34" charset="-122"/>
                <a:cs typeface="IBM Plex Sans" pitchFamily="34" charset="-120"/>
              </a:rPr>
              <a:t>Preamble</a:t>
            </a:r>
            <a:endParaRPr lang="en-US" sz="1200" dirty="0"/>
          </a:p>
        </p:txBody>
      </p:sp>
      <p:sp>
        <p:nvSpPr>
          <p:cNvPr id="19" name="Shape 17"/>
          <p:cNvSpPr/>
          <p:nvPr/>
        </p:nvSpPr>
        <p:spPr>
          <a:xfrm>
            <a:off x="6732389" y="2590701"/>
            <a:ext cx="1095028" cy="731441"/>
          </a:xfrm>
          <a:prstGeom prst="roundRect">
            <a:avLst>
              <a:gd name="adj" fmla="val 12154"/>
            </a:avLst>
          </a:prstGeom>
          <a:solidFill>
            <a:srgbClr val="5B46C9"/>
          </a:solidFill>
          <a:ln/>
        </p:spPr>
      </p:sp>
      <p:sp>
        <p:nvSpPr>
          <p:cNvPr id="20" name="Text 18"/>
          <p:cNvSpPr/>
          <p:nvPr/>
        </p:nvSpPr>
        <p:spPr>
          <a:xfrm>
            <a:off x="6846689" y="2717701"/>
            <a:ext cx="917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A83A"/>
                </a:solidFill>
                <a:latin typeface="JetBrains Mono" pitchFamily="49" charset="0"/>
                <a:ea typeface="JetBrains Mono" pitchFamily="49" charset="-122"/>
                <a:cs typeface="JetBrains Mono" pitchFamily="49" charset="-120"/>
              </a:rPr>
              <a:t>5</a:t>
            </a:r>
            <a:endParaRPr lang="en-US" sz="1200" dirty="0"/>
          </a:p>
        </p:txBody>
      </p:sp>
      <p:sp>
        <p:nvSpPr>
          <p:cNvPr id="21" name="Text 19"/>
          <p:cNvSpPr/>
          <p:nvPr/>
        </p:nvSpPr>
        <p:spPr>
          <a:xfrm>
            <a:off x="6846689" y="2969121"/>
            <a:ext cx="9172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5FB"/>
                </a:solidFill>
                <a:latin typeface="IBM Plex Sans" pitchFamily="34" charset="0"/>
                <a:ea typeface="IBM Plex Sans" pitchFamily="34" charset="-122"/>
                <a:cs typeface="IBM Plex Sans" pitchFamily="34" charset="-120"/>
              </a:rPr>
              <a:t>Tickets</a:t>
            </a:r>
            <a:endParaRPr lang="en-US" sz="1200" dirty="0"/>
          </a:p>
        </p:txBody>
      </p:sp>
      <p:sp>
        <p:nvSpPr>
          <p:cNvPr id="22" name="Shape 20"/>
          <p:cNvSpPr/>
          <p:nvPr/>
        </p:nvSpPr>
        <p:spPr>
          <a:xfrm>
            <a:off x="7906792" y="2593876"/>
            <a:ext cx="1101378" cy="725091"/>
          </a:xfrm>
          <a:prstGeom prst="roundRect">
            <a:avLst>
              <a:gd name="adj" fmla="val 11823"/>
            </a:avLst>
          </a:prstGeom>
          <a:solidFill>
            <a:srgbClr val="FDFCFF"/>
          </a:solidFill>
          <a:ln w="6350">
            <a:solidFill>
              <a:srgbClr val="E2DFF0"/>
            </a:solidFill>
            <a:prstDash val="solid"/>
          </a:ln>
        </p:spPr>
      </p:sp>
      <p:sp>
        <p:nvSpPr>
          <p:cNvPr id="23" name="Text 21"/>
          <p:cNvSpPr/>
          <p:nvPr/>
        </p:nvSpPr>
        <p:spPr>
          <a:xfrm>
            <a:off x="8024267" y="2724051"/>
            <a:ext cx="917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6C9"/>
                </a:solidFill>
                <a:latin typeface="JetBrains Mono" pitchFamily="49" charset="0"/>
                <a:ea typeface="JetBrains Mono" pitchFamily="49" charset="-122"/>
                <a:cs typeface="JetBrains Mono" pitchFamily="49" charset="-120"/>
              </a:rPr>
              <a:t>6</a:t>
            </a:r>
            <a:endParaRPr lang="en-US" sz="1200" dirty="0"/>
          </a:p>
        </p:txBody>
      </p:sp>
      <p:sp>
        <p:nvSpPr>
          <p:cNvPr id="24" name="Text 22"/>
          <p:cNvSpPr/>
          <p:nvPr/>
        </p:nvSpPr>
        <p:spPr>
          <a:xfrm>
            <a:off x="8024267" y="2975471"/>
            <a:ext cx="9172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A45"/>
                </a:solidFill>
                <a:latin typeface="IBM Plex Sans" pitchFamily="34" charset="0"/>
                <a:ea typeface="IBM Plex Sans" pitchFamily="34" charset="-122"/>
                <a:cs typeface="IBM Plex Sans" pitchFamily="34" charset="-120"/>
              </a:rPr>
              <a:t>Plan + Jira</a:t>
            </a:r>
            <a:endParaRPr lang="en-US" sz="1200" dirty="0"/>
          </a:p>
        </p:txBody>
      </p:sp>
      <p:sp>
        <p:nvSpPr>
          <p:cNvPr id="25" name="Shape 23"/>
          <p:cNvSpPr/>
          <p:nvPr/>
        </p:nvSpPr>
        <p:spPr>
          <a:xfrm>
            <a:off x="9090720" y="2593876"/>
            <a:ext cx="1101378" cy="725091"/>
          </a:xfrm>
          <a:prstGeom prst="roundRect">
            <a:avLst>
              <a:gd name="adj" fmla="val 11823"/>
            </a:avLst>
          </a:prstGeom>
          <a:solidFill>
            <a:srgbClr val="FDFCFF"/>
          </a:solidFill>
          <a:ln w="6350">
            <a:solidFill>
              <a:srgbClr val="E2DFF0"/>
            </a:solidFill>
            <a:prstDash val="solid"/>
          </a:ln>
        </p:spPr>
      </p:sp>
      <p:sp>
        <p:nvSpPr>
          <p:cNvPr id="26" name="Text 24"/>
          <p:cNvSpPr/>
          <p:nvPr/>
        </p:nvSpPr>
        <p:spPr>
          <a:xfrm>
            <a:off x="9208195" y="2724051"/>
            <a:ext cx="917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6C9"/>
                </a:solidFill>
                <a:latin typeface="JetBrains Mono" pitchFamily="49" charset="0"/>
                <a:ea typeface="JetBrains Mono" pitchFamily="49" charset="-122"/>
                <a:cs typeface="JetBrains Mono" pitchFamily="49" charset="-120"/>
              </a:rPr>
              <a:t>7</a:t>
            </a:r>
            <a:endParaRPr lang="en-US" sz="1200" dirty="0"/>
          </a:p>
        </p:txBody>
      </p:sp>
      <p:sp>
        <p:nvSpPr>
          <p:cNvPr id="27" name="Text 25"/>
          <p:cNvSpPr/>
          <p:nvPr/>
        </p:nvSpPr>
        <p:spPr>
          <a:xfrm>
            <a:off x="9208195" y="2975471"/>
            <a:ext cx="9172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A45"/>
                </a:solidFill>
                <a:latin typeface="IBM Plex Sans" pitchFamily="34" charset="0"/>
                <a:ea typeface="IBM Plex Sans" pitchFamily="34" charset="-122"/>
                <a:cs typeface="IBM Plex Sans" pitchFamily="34" charset="-120"/>
              </a:rPr>
              <a:t>Validate</a:t>
            </a:r>
            <a:endParaRPr lang="en-US" sz="1200" dirty="0"/>
          </a:p>
        </p:txBody>
      </p:sp>
      <p:sp>
        <p:nvSpPr>
          <p:cNvPr id="28" name="Shape 26"/>
          <p:cNvSpPr/>
          <p:nvPr/>
        </p:nvSpPr>
        <p:spPr>
          <a:xfrm>
            <a:off x="10274647" y="2593876"/>
            <a:ext cx="1101378" cy="725091"/>
          </a:xfrm>
          <a:prstGeom prst="roundRect">
            <a:avLst>
              <a:gd name="adj" fmla="val 11823"/>
            </a:avLst>
          </a:prstGeom>
          <a:solidFill>
            <a:srgbClr val="FDFCFF"/>
          </a:solidFill>
          <a:ln w="6350">
            <a:solidFill>
              <a:srgbClr val="E2DFF0"/>
            </a:solidFill>
            <a:prstDash val="solid"/>
          </a:ln>
        </p:spPr>
      </p:sp>
      <p:sp>
        <p:nvSpPr>
          <p:cNvPr id="29" name="Text 27"/>
          <p:cNvSpPr/>
          <p:nvPr/>
        </p:nvSpPr>
        <p:spPr>
          <a:xfrm>
            <a:off x="10392122" y="2724051"/>
            <a:ext cx="917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6C9"/>
                </a:solidFill>
                <a:latin typeface="JetBrains Mono" pitchFamily="49" charset="0"/>
                <a:ea typeface="JetBrains Mono" pitchFamily="49" charset="-122"/>
                <a:cs typeface="JetBrains Mono" pitchFamily="49" charset="-120"/>
              </a:rPr>
              <a:t>8</a:t>
            </a:r>
            <a:endParaRPr lang="en-US" sz="1200" dirty="0"/>
          </a:p>
        </p:txBody>
      </p:sp>
      <p:sp>
        <p:nvSpPr>
          <p:cNvPr id="30" name="Text 28"/>
          <p:cNvSpPr/>
          <p:nvPr/>
        </p:nvSpPr>
        <p:spPr>
          <a:xfrm>
            <a:off x="10392122" y="2975471"/>
            <a:ext cx="9172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A45"/>
                </a:solidFill>
                <a:latin typeface="IBM Plex Sans" pitchFamily="34" charset="0"/>
                <a:ea typeface="IBM Plex Sans" pitchFamily="34" charset="-122"/>
                <a:cs typeface="IBM Plex Sans" pitchFamily="34" charset="-120"/>
              </a:rPr>
              <a:t>Deliver</a:t>
            </a:r>
            <a:endParaRPr lang="en-US" sz="1200" dirty="0"/>
          </a:p>
        </p:txBody>
      </p:sp>
      <p:sp>
        <p:nvSpPr>
          <p:cNvPr id="31" name="Text 29"/>
          <p:cNvSpPr/>
          <p:nvPr/>
        </p:nvSpPr>
        <p:spPr>
          <a:xfrm>
            <a:off x="812800" y="3601541"/>
            <a:ext cx="59126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6C9"/>
                </a:solidFill>
                <a:latin typeface="IBM Plex Sans" pitchFamily="34" charset="0"/>
                <a:ea typeface="IBM Plex Sans" pitchFamily="34" charset="-122"/>
                <a:cs typeface="IBM Plex Sans" pitchFamily="34" charset="-120"/>
              </a:rPr>
              <a:t>The spec pack a ticket may cite</a:t>
            </a:r>
            <a:endParaRPr lang="en-US" sz="1400" dirty="0"/>
          </a:p>
        </p:txBody>
      </p:sp>
      <p:sp>
        <p:nvSpPr>
          <p:cNvPr id="32" name="Text 30"/>
          <p:cNvSpPr/>
          <p:nvPr/>
        </p:nvSpPr>
        <p:spPr>
          <a:xfrm>
            <a:off x="812800" y="3952032"/>
            <a:ext cx="5912612" cy="75689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E1A45"/>
                </a:solidFill>
                <a:latin typeface="JetBrains Mono" pitchFamily="49" charset="0"/>
                <a:ea typeface="JetBrains Mono" pitchFamily="49" charset="-122"/>
                <a:cs typeface="JetBrains Mono" pitchFamily="49" charset="-120"/>
              </a:rPr>
              <a:t>PRODUCT · FUNCTION-CATALOG · MONOREPO · PIPELINE · SCHEMA + sql/ · openapi/*.yaml · EVENTS · CONFIG-KEYS · AUTH-TENANCY · SCREENS · FIXTURES · INSTALL · DOCS-IN-CODE · OBSERVABILITY</a:t>
            </a:r>
            <a:endParaRPr lang="en-US" sz="1200" dirty="0"/>
          </a:p>
        </p:txBody>
      </p:sp>
      <p:sp>
        <p:nvSpPr>
          <p:cNvPr id="33" name="Shape 31"/>
          <p:cNvSpPr/>
          <p:nvPr/>
        </p:nvSpPr>
        <p:spPr>
          <a:xfrm>
            <a:off x="6807200" y="3601541"/>
            <a:ext cx="4572000" cy="1755031"/>
          </a:xfrm>
          <a:prstGeom prst="roundRect">
            <a:avLst>
              <a:gd name="adj" fmla="val 7236"/>
            </a:avLst>
          </a:prstGeom>
          <a:solidFill>
            <a:srgbClr val="17133A"/>
          </a:solidFill>
          <a:ln/>
        </p:spPr>
      </p:sp>
      <p:sp>
        <p:nvSpPr>
          <p:cNvPr id="34" name="Text 32"/>
          <p:cNvSpPr/>
          <p:nvPr/>
        </p:nvSpPr>
        <p:spPr>
          <a:xfrm>
            <a:off x="7035800" y="3830141"/>
            <a:ext cx="4238244"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6F5FB"/>
                </a:solidFill>
                <a:latin typeface="IBM Plex Sans" pitchFamily="34" charset="0"/>
                <a:ea typeface="IBM Plex Sans" pitchFamily="34" charset="-122"/>
                <a:cs typeface="IBM Plex Sans" pitchFamily="34" charset="-120"/>
              </a:rPr>
              <a:t>A ticket may only reference what a spec file defines.</a:t>
            </a:r>
            <a:endParaRPr lang="en-US" sz="1600" dirty="0"/>
          </a:p>
        </p:txBody>
      </p:sp>
      <p:sp>
        <p:nvSpPr>
          <p:cNvPr id="35" name="Text 33"/>
          <p:cNvSpPr/>
          <p:nvPr/>
        </p:nvSpPr>
        <p:spPr>
          <a:xfrm>
            <a:off x="7035800" y="4434582"/>
            <a:ext cx="4238244"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EC8F0"/>
                </a:solidFill>
                <a:latin typeface="IBM Plex Sans" pitchFamily="34" charset="0"/>
                <a:ea typeface="IBM Plex Sans" pitchFamily="34" charset="-122"/>
                <a:cs typeface="IBM Plex Sans" pitchFamily="34" charset="-120"/>
              </a:rPr>
              <a:t>Generators produce the tickets, then validation checks the schema, cycles, folder-lock conflicts and every link before anything ships.</a:t>
            </a:r>
            <a:endParaRPr lang="en-US" sz="1300" dirty="0"/>
          </a:p>
        </p:txBody>
      </p:sp>
      <p:sp>
        <p:nvSpPr>
          <p:cNvPr id="36" name="Text 3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Spec coding with Cursor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7827"/>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5B46C9"/>
                </a:solidFill>
                <a:latin typeface="JetBrains Mono" pitchFamily="49" charset="0"/>
                <a:ea typeface="JetBrains Mono" pitchFamily="49" charset="-122"/>
                <a:cs typeface="JetBrains Mono" pitchFamily="49" charset="-120"/>
              </a:rPr>
              <a:t>03 · THE JIRA TEMPLATE</a:t>
            </a:r>
            <a:endParaRPr lang="en-US" sz="1196" dirty="0"/>
          </a:p>
        </p:txBody>
      </p:sp>
      <p:sp>
        <p:nvSpPr>
          <p:cNvPr id="3" name="Text 1"/>
          <p:cNvSpPr/>
          <p:nvPr>
            <p:ph type="title"/>
          </p:nvPr>
        </p:nvSpPr>
        <p:spPr>
          <a:xfrm>
            <a:off x="812800" y="1228427"/>
            <a:ext cx="10883392" cy="5261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One bar for every ticket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5035"/>
          <a:ext cx="10553700" cy="3449836"/>
        </p:xfrm>
        <a:graphic>
          <a:graphicData uri="http://schemas.openxmlformats.org/drawingml/2006/table">
            <a:tbl>
              <a:tblPr/>
              <a:tblGrid>
                <a:gridCol w="2743962"/>
                <a:gridCol w="7809738"/>
              </a:tblGrid>
              <a:tr h="344984">
                <a:tc>
                  <a:txBody>
                    <a:bodyPr/>
                    <a:lstStyle/>
                    <a:p>
                      <a:pPr indent="0" marL="0">
                        <a:lnSpc>
                          <a:spcPts val="1745"/>
                        </a:lnSpc>
                        <a:buNone/>
                      </a:pPr>
                      <a:r>
                        <a:rPr lang="en-US" sz="1246" b="1" dirty="0">
                          <a:solidFill>
                            <a:srgbClr val="1E1A45"/>
                          </a:solidFill>
                          <a:latin typeface="IBM Plex Sans" pitchFamily="34" charset="0"/>
                          <a:ea typeface="IBM Plex Sans" pitchFamily="34" charset="-122"/>
                          <a:cs typeface="IBM Plex Sans" pitchFamily="34" charset="-120"/>
                        </a:rPr>
                        <a:t>Field</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B6B5B9"/>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5B9"/>
                      </a:solidFill>
                      <a:prstDash val="solid"/>
                      <a:round/>
                      <a:headEnd type="none" w="med" len="med"/>
                      <a:tailEnd type="none" w="med" len="med"/>
                    </a:lnB>
                    <a:solidFill>
                      <a:srgbClr val="E4E3E8"/>
                    </a:solidFill>
                  </a:tcPr>
                </a:tc>
                <a:tc>
                  <a:txBody>
                    <a:bodyPr/>
                    <a:lstStyle/>
                    <a:p>
                      <a:pPr indent="0" marL="0">
                        <a:lnSpc>
                          <a:spcPts val="1745"/>
                        </a:lnSpc>
                        <a:buNone/>
                      </a:pPr>
                      <a:r>
                        <a:rPr lang="en-US" sz="1246" b="1" dirty="0">
                          <a:solidFill>
                            <a:srgbClr val="1E1A45"/>
                          </a:solidFill>
                          <a:latin typeface="IBM Plex Sans" pitchFamily="34" charset="0"/>
                          <a:ea typeface="IBM Plex Sans" pitchFamily="34" charset="-122"/>
                          <a:cs typeface="IBM Plex Sans" pitchFamily="34" charset="-120"/>
                        </a:rPr>
                        <a:t>The rule</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B6B5B9"/>
                      </a:solidFill>
                      <a:prstDash val="solid"/>
                      <a:round/>
                      <a:headEnd type="none" w="med" len="med"/>
                      <a:tailEnd type="none" w="med" len="med"/>
                    </a:lnL>
                    <a:lnR w="12700" cap="flat" cmpd="sng" algn="ctr">
                      <a:solidFill>
                        <a:srgbClr val="B6B5B9"/>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5B9"/>
                      </a:solidFill>
                      <a:prstDash val="solid"/>
                      <a:round/>
                      <a:headEnd type="none" w="med" len="med"/>
                      <a:tailEnd type="none" w="med" len="med"/>
                    </a:lnB>
                    <a:solidFill>
                      <a:srgbClr val="E4E3E8"/>
                    </a:solidFill>
                  </a:tcPr>
                </a:tc>
              </a:tr>
              <a:tr h="344984">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Summary</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6B5B9"/>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80 characters or fewer, prefixed with the plan ID</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6B5B9"/>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r h="344984">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Why</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40–150 words on what breaks if it is not built</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r>
              <a:tr h="344984">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What</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60+ words; numbered deliverables with exact paths, tables, routes, events</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r h="344984">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Acceptance criteria</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3+ Given/When/Then with real data; 1+ negative or edge; exactly one “Test command:”</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r>
              <a:tr h="344984">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Lock units</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The folders this agent owns; two running agents never share one</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r h="344984">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Technical details</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API contract, migration, config keys, idempotency, vendors</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r>
              <a:tr h="344984">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UI</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Screen file, route, states, accessibility, visual baseline</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r h="344984">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Blocked by</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Minimal and true; becomes a Jira Blocks link</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r>
              <a:tr h="344984">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Links</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45"/>
                        </a:lnSpc>
                        <a:buNone/>
                      </a:pPr>
                      <a:r>
                        <a:rPr lang="en-US" sz="1246" dirty="0">
                          <a:solidFill>
                            <a:srgbClr val="1E1A45"/>
                          </a:solidFill>
                          <a:latin typeface="IBM Plex Sans" pitchFamily="34" charset="0"/>
                          <a:ea typeface="IBM Plex Sans" pitchFamily="34" charset="-122"/>
                          <a:cs typeface="IBM Plex Sans" pitchFamily="34" charset="-120"/>
                        </a:rPr>
                        <a:t>Every spec file it relies on; each must exist</a:t>
                      </a:r>
                      <a:endParaRPr lang="en-US" sz="1246" dirty="0">
                        <a:latin typeface="IBM Plex Sans" charset="0"/>
                        <a:ea typeface="IBM Plex Sans" charset="0"/>
                        <a:cs typeface="IBM Plex Sans" charset="0"/>
                      </a:endParaRPr>
                    </a:p>
                  </a:txBody>
                  <a:tcPr marL="55389" marR="55389" marT="55389" marB="55389"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bl>
          </a:graphicData>
        </a:graphic>
      </p:graphicFrame>
      <p:sp>
        <p:nvSpPr>
          <p:cNvPr id="5" name="Text 2"/>
          <p:cNvSpPr/>
          <p:nvPr/>
        </p:nvSpPr>
        <p:spPr>
          <a:xfrm>
            <a:off x="812800" y="5594152"/>
            <a:ext cx="10883392" cy="27324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46C9"/>
                </a:solidFill>
                <a:latin typeface="IBM Plex Sans" pitchFamily="34" charset="0"/>
                <a:ea typeface="IBM Plex Sans" pitchFamily="34" charset="-122"/>
                <a:cs typeface="IBM Plex Sans" pitchFamily="34" charset="-120"/>
              </a:rPr>
              <a:t>common.T(...)</a:t>
            </a:r>
            <a:r>
              <a:rPr lang="en-US" sz="1400" dirty="0">
                <a:solidFill>
                  <a:srgbClr val="4A4766"/>
                </a:solidFill>
                <a:latin typeface="IBM Plex Sans" pitchFamily="34" charset="0"/>
                <a:ea typeface="IBM Plex Sans" pitchFamily="34" charset="-122"/>
                <a:cs typeface="IBM Plex Sans" pitchFamily="34" charset="-120"/>
              </a:rPr>
              <a:t> asserts the bar: a ticket that misses it fails the build, so it never reaches Jira.</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Spec coding with Cursor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03 · A REAL TICKET</a:t>
            </a:r>
            <a:endParaRPr lang="en-US" sz="1200" dirty="0"/>
          </a:p>
        </p:txBody>
      </p:sp>
      <p:sp>
        <p:nvSpPr>
          <p:cNvPr id="3" name="Text 1"/>
          <p:cNvSpPr/>
          <p:nvPr>
            <p:ph type="title"/>
          </p:nvPr>
        </p:nvSpPr>
        <p:spPr>
          <a:xfrm>
            <a:off x="812800" y="1254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Q-45: the Emerging issues section</a:t>
            </a:r>
            <a:endParaRPr lang="en-US" sz="3600" dirty="0"/>
          </a:p>
        </p:txBody>
      </p:sp>
      <p:sp>
        <p:nvSpPr>
          <p:cNvPr id="4" name="Shape 2"/>
          <p:cNvSpPr/>
          <p:nvPr/>
        </p:nvSpPr>
        <p:spPr>
          <a:xfrm>
            <a:off x="815975" y="1989386"/>
            <a:ext cx="6724650" cy="3140521"/>
          </a:xfrm>
          <a:prstGeom prst="roundRect">
            <a:avLst>
              <a:gd name="adj" fmla="val 3943"/>
            </a:avLst>
          </a:prstGeom>
          <a:solidFill>
            <a:srgbClr val="FDFCFF"/>
          </a:solidFill>
          <a:ln w="6350">
            <a:solidFill>
              <a:srgbClr val="E2DFF0"/>
            </a:solidFill>
            <a:prstDash val="solid"/>
          </a:ln>
        </p:spPr>
      </p:sp>
      <p:sp>
        <p:nvSpPr>
          <p:cNvPr id="5" name="Text 3"/>
          <p:cNvSpPr/>
          <p:nvPr/>
        </p:nvSpPr>
        <p:spPr>
          <a:xfrm>
            <a:off x="1073150" y="2221161"/>
            <a:ext cx="646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JetBrains Mono" pitchFamily="49" charset="0"/>
                <a:ea typeface="JetBrains Mono" pitchFamily="49" charset="-122"/>
                <a:cs typeface="JetBrains Mono" pitchFamily="49" charset="-120"/>
              </a:rPr>
              <a:t>Story · APP · ui · High · blocked by Q-00 Q-02 Q-04 Q-61 Q-16 A-53</a:t>
            </a:r>
            <a:endParaRPr lang="en-US" sz="1200" dirty="0"/>
          </a:p>
        </p:txBody>
      </p:sp>
      <p:sp>
        <p:nvSpPr>
          <p:cNvPr id="6" name="Text 4"/>
          <p:cNvSpPr/>
          <p:nvPr/>
        </p:nvSpPr>
        <p:spPr>
          <a:xfrm>
            <a:off x="1073150" y="2523381"/>
            <a:ext cx="6396609"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1A45"/>
                </a:solidFill>
                <a:latin typeface="IBM Plex Sans" pitchFamily="34" charset="0"/>
                <a:ea typeface="IBM Plex Sans" pitchFamily="34" charset="-122"/>
                <a:cs typeface="IBM Plex Sans" pitchFamily="34" charset="-120"/>
              </a:rPr>
              <a:t>What:</a:t>
            </a:r>
            <a:r>
              <a:rPr lang="en-US" sz="1300" dirty="0">
                <a:solidFill>
                  <a:srgbClr val="1E1A45"/>
                </a:solidFill>
                <a:latin typeface="IBM Plex Sans" pitchFamily="34" charset="0"/>
                <a:ea typeface="IBM Plex Sans" pitchFamily="34" charset="-122"/>
                <a:cs typeface="IBM Plex Sans" pitchFamily="34" charset="-120"/>
              </a:rPr>
              <a:t> deliver </a:t>
            </a:r>
            <a:r>
              <a:rPr lang="en-US" sz="1300" dirty="0">
                <a:solidFill>
                  <a:srgbClr val="5B46C9"/>
                </a:solidFill>
                <a:latin typeface="IBM Plex Sans" pitchFamily="34" charset="0"/>
                <a:ea typeface="IBM Plex Sans" pitchFamily="34" charset="-122"/>
                <a:cs typeface="IBM Plex Sans" pitchFamily="34" charset="-120"/>
              </a:rPr>
              <a:t>apps/web/quality/src/modules/voc/emerging/</a:t>
            </a:r>
            <a:r>
              <a:rPr lang="en-US" sz="1300" dirty="0">
                <a:solidFill>
                  <a:srgbClr val="1E1A45"/>
                </a:solidFill>
                <a:latin typeface="IBM Plex Sans" pitchFamily="34" charset="0"/>
                <a:ea typeface="IBM Plex Sans" pitchFamily="34" charset="-122"/>
                <a:cs typeface="IBM Plex Sans" pitchFamily="34" charset="-120"/>
              </a:rPr>
              <a:t> + </a:t>
            </a:r>
            <a:r>
              <a:rPr lang="en-US" sz="1300" dirty="0">
                <a:solidFill>
                  <a:srgbClr val="5B46C9"/>
                </a:solidFill>
                <a:latin typeface="IBM Plex Sans" pitchFamily="34" charset="0"/>
                <a:ea typeface="IBM Plex Sans" pitchFamily="34" charset="-122"/>
                <a:cs typeface="IBM Plex Sans" pitchFamily="34" charset="-120"/>
              </a:rPr>
              <a:t>src/api/app-voc-emerging.ts</a:t>
            </a:r>
            <a:r>
              <a:rPr lang="en-US" sz="1300" dirty="0">
                <a:solidFill>
                  <a:srgbClr val="1E1A45"/>
                </a:solidFill>
                <a:latin typeface="IBM Plex Sans" pitchFamily="34" charset="0"/>
                <a:ea typeface="IBM Plex Sans" pitchFamily="34" charset="-122"/>
                <a:cs typeface="IBM Plex Sans" pitchFamily="34" charset="-120"/>
              </a:rPr>
              <a:t>; card click goes to </a:t>
            </a:r>
            <a:r>
              <a:rPr lang="en-US" sz="1300" dirty="0">
                <a:solidFill>
                  <a:srgbClr val="5B46C9"/>
                </a:solidFill>
                <a:latin typeface="IBM Plex Sans" pitchFamily="34" charset="0"/>
                <a:ea typeface="IBM Plex Sans" pitchFamily="34" charset="-122"/>
                <a:cs typeface="IBM Plex Sans" pitchFamily="34" charset="-120"/>
              </a:rPr>
              <a:t>/drill/vol/topic/&lt;name&gt;</a:t>
            </a:r>
            <a:r>
              <a:rPr lang="en-US" sz="1300" dirty="0">
                <a:solidFill>
                  <a:srgbClr val="1E1A45"/>
                </a:solidFill>
                <a:latin typeface="IBM Plex Sans" pitchFamily="34" charset="0"/>
                <a:ea typeface="IBM Plex Sans" pitchFamily="34" charset="-122"/>
                <a:cs typeface="IBM Plex Sans" pitchFamily="34" charset="-120"/>
              </a:rPr>
              <a:t>; live frame </a:t>
            </a:r>
            <a:r>
              <a:rPr lang="en-US" sz="1300" dirty="0">
                <a:solidFill>
                  <a:srgbClr val="5B46C9"/>
                </a:solidFill>
                <a:latin typeface="IBM Plex Sans" pitchFamily="34" charset="0"/>
                <a:ea typeface="IBM Plex Sans" pitchFamily="34" charset="-122"/>
                <a:cs typeface="IBM Plex Sans" pitchFamily="34" charset="-120"/>
              </a:rPr>
              <a:t>hos.voc.emerging.v1</a:t>
            </a:r>
            <a:r>
              <a:rPr lang="en-US" sz="1300" dirty="0">
                <a:solidFill>
                  <a:srgbClr val="1E1A45"/>
                </a:solidFill>
                <a:latin typeface="IBM Plex Sans" pitchFamily="34" charset="0"/>
                <a:ea typeface="IBM Plex Sans" pitchFamily="34" charset="-122"/>
                <a:cs typeface="IBM Plex Sans" pitchFamily="34" charset="-120"/>
              </a:rPr>
              <a:t> refetches.</a:t>
            </a:r>
            <a:endParaRPr lang="en-US" sz="1300" dirty="0"/>
          </a:p>
        </p:txBody>
      </p:sp>
      <p:sp>
        <p:nvSpPr>
          <p:cNvPr id="7" name="Text 5"/>
          <p:cNvSpPr/>
          <p:nvPr/>
        </p:nvSpPr>
        <p:spPr>
          <a:xfrm>
            <a:off x="1073150" y="3305671"/>
            <a:ext cx="6396609"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E1A45"/>
                </a:solidFill>
                <a:latin typeface="IBM Plex Sans" pitchFamily="34" charset="0"/>
                <a:ea typeface="IBM Plex Sans" pitchFamily="34" charset="-122"/>
                <a:cs typeface="IBM Plex Sans" pitchFamily="34" charset="-120"/>
              </a:rPr>
              <a:t>AC-1 (happy)</a:t>
            </a:r>
            <a:r>
              <a:rPr lang="en-US" sz="1200" dirty="0">
                <a:solidFill>
                  <a:srgbClr val="1E1A45"/>
                </a:solidFill>
                <a:latin typeface="IBM Plex Sans" pitchFamily="34" charset="0"/>
                <a:ea typeface="IBM Plex Sans" pitchFamily="34" charset="-122"/>
                <a:cs typeface="IBM Plex Sans" pitchFamily="34" charset="-120"/>
              </a:rPr>
              <a:t> Given </a:t>
            </a:r>
            <a:r>
              <a:rPr lang="en-US" sz="1200" dirty="0">
                <a:solidFill>
                  <a:srgbClr val="5B46C9"/>
                </a:solidFill>
                <a:latin typeface="IBM Plex Sans" pitchFamily="34" charset="0"/>
                <a:ea typeface="IBM Plex Sans" pitchFamily="34" charset="-122"/>
                <a:cs typeface="IBM Plex Sans" pitchFamily="34" charset="-120"/>
              </a:rPr>
              <a:t>cx_emerging.json</a:t>
            </a:r>
            <a:r>
              <a:rPr lang="en-US" sz="1200" dirty="0">
                <a:solidFill>
                  <a:srgbClr val="1E1A45"/>
                </a:solidFill>
                <a:latin typeface="IBM Plex Sans" pitchFamily="34" charset="0"/>
                <a:ea typeface="IBM Plex Sans" pitchFamily="34" charset="-122"/>
                <a:cs typeface="IBM Plex Sans" pitchFamily="34" charset="-120"/>
              </a:rPr>
              <a:t>, the pill reads “3 rising”; clicking the first card navigates to its drill route.</a:t>
            </a:r>
            <a:endParaRPr lang="en-US" sz="1200" dirty="0"/>
          </a:p>
        </p:txBody>
      </p:sp>
      <p:sp>
        <p:nvSpPr>
          <p:cNvPr id="8" name="Text 6"/>
          <p:cNvSpPr/>
          <p:nvPr/>
        </p:nvSpPr>
        <p:spPr>
          <a:xfrm>
            <a:off x="1073150" y="3836491"/>
            <a:ext cx="6396609"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E1A45"/>
                </a:solidFill>
                <a:latin typeface="IBM Plex Sans" pitchFamily="34" charset="0"/>
                <a:ea typeface="IBM Plex Sans" pitchFamily="34" charset="-122"/>
                <a:cs typeface="IBM Plex Sans" pitchFamily="34" charset="-120"/>
              </a:rPr>
              <a:t>AC-3 (negative)</a:t>
            </a:r>
            <a:r>
              <a:rPr lang="en-US" sz="1200" dirty="0">
                <a:solidFill>
                  <a:srgbClr val="1E1A45"/>
                </a:solidFill>
                <a:latin typeface="IBM Plex Sans" pitchFamily="34" charset="0"/>
                <a:ea typeface="IBM Plex Sans" pitchFamily="34" charset="-122"/>
                <a:cs typeface="IBM Plex Sans" pitchFamily="34" charset="-120"/>
              </a:rPr>
              <a:t> On a 503 the section falls back to the overview list with a “Live update unavailable” note and one retry, no retry storm.</a:t>
            </a:r>
            <a:endParaRPr lang="en-US" sz="1200" dirty="0"/>
          </a:p>
        </p:txBody>
      </p:sp>
      <p:sp>
        <p:nvSpPr>
          <p:cNvPr id="9" name="Text 7"/>
          <p:cNvSpPr/>
          <p:nvPr/>
        </p:nvSpPr>
        <p:spPr>
          <a:xfrm>
            <a:off x="1073150" y="4367312"/>
            <a:ext cx="6396609"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E1A45"/>
                </a:solidFill>
                <a:latin typeface="IBM Plex Sans" pitchFamily="34" charset="0"/>
                <a:ea typeface="IBM Plex Sans" pitchFamily="34" charset="-122"/>
                <a:cs typeface="IBM Plex Sans" pitchFamily="34" charset="-120"/>
              </a:rPr>
              <a:t>AC-5 (visual)</a:t>
            </a:r>
            <a:r>
              <a:rPr lang="en-US" sz="1200" dirty="0">
                <a:solidFill>
                  <a:srgbClr val="1E1A45"/>
                </a:solidFill>
                <a:latin typeface="IBM Plex Sans" pitchFamily="34" charset="0"/>
                <a:ea typeface="IBM Plex Sans" pitchFamily="34" charset="-122"/>
                <a:cs typeface="IBM Plex Sans" pitchFamily="34" charset="-120"/>
              </a:rPr>
              <a:t> Render at 1440×900 matches </a:t>
            </a:r>
            <a:r>
              <a:rPr lang="en-US" sz="1200" dirty="0">
                <a:solidFill>
                  <a:srgbClr val="5B46C9"/>
                </a:solidFill>
                <a:latin typeface="IBM Plex Sans" pitchFamily="34" charset="0"/>
                <a:ea typeface="IBM Plex Sans" pitchFamily="34" charset="-122"/>
                <a:cs typeface="IBM Plex Sans" pitchFamily="34" charset="-120"/>
              </a:rPr>
              <a:t>cx-emerging.png</a:t>
            </a:r>
            <a:r>
              <a:rPr lang="en-US" sz="1200" dirty="0">
                <a:solidFill>
                  <a:srgbClr val="1E1A45"/>
                </a:solidFill>
                <a:latin typeface="IBM Plex Sans" pitchFamily="34" charset="0"/>
                <a:ea typeface="IBM Plex Sans" pitchFamily="34" charset="-122"/>
                <a:cs typeface="IBM Plex Sans" pitchFamily="34" charset="-120"/>
              </a:rPr>
              <a:t> within 5%.</a:t>
            </a:r>
            <a:endParaRPr lang="en-US" sz="1200" dirty="0"/>
          </a:p>
        </p:txBody>
      </p:sp>
      <p:sp>
        <p:nvSpPr>
          <p:cNvPr id="10" name="Text 8"/>
          <p:cNvSpPr/>
          <p:nvPr/>
        </p:nvSpPr>
        <p:spPr>
          <a:xfrm>
            <a:off x="1073150" y="4677172"/>
            <a:ext cx="6396609"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E1A45"/>
                </a:solidFill>
                <a:latin typeface="IBM Plex Sans" pitchFamily="34" charset="0"/>
                <a:ea typeface="IBM Plex Sans" pitchFamily="34" charset="-122"/>
                <a:cs typeface="IBM Plex Sans" pitchFamily="34" charset="-120"/>
              </a:rPr>
              <a:t>AC-6</a:t>
            </a:r>
            <a:r>
              <a:rPr lang="en-US" sz="1200" dirty="0">
                <a:solidFill>
                  <a:srgbClr val="1E1A45"/>
                </a:solidFill>
                <a:latin typeface="IBM Plex Sans" pitchFamily="34" charset="0"/>
                <a:ea typeface="IBM Plex Sans" pitchFamily="34" charset="-122"/>
                <a:cs typeface="IBM Plex Sans" pitchFamily="34" charset="-120"/>
              </a:rPr>
              <a:t> Test command: </a:t>
            </a:r>
            <a:r>
              <a:rPr lang="en-US" sz="1200" dirty="0">
                <a:solidFill>
                  <a:srgbClr val="5B46C9"/>
                </a:solidFill>
                <a:latin typeface="IBM Plex Sans" pitchFamily="34" charset="0"/>
                <a:ea typeface="IBM Plex Sans" pitchFamily="34" charset="-122"/>
                <a:cs typeface="IBM Plex Sans" pitchFamily="34" charset="-120"/>
              </a:rPr>
              <a:t>pnpm --filter quality test -- voc/emerging</a:t>
            </a:r>
            <a:endParaRPr lang="en-US" sz="1200" dirty="0"/>
          </a:p>
        </p:txBody>
      </p:sp>
      <p:sp>
        <p:nvSpPr>
          <p:cNvPr id="11" name="Text 9"/>
          <p:cNvSpPr/>
          <p:nvPr/>
        </p:nvSpPr>
        <p:spPr>
          <a:xfrm>
            <a:off x="7797800" y="1986211"/>
            <a:ext cx="368884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6C9"/>
                </a:solidFill>
                <a:latin typeface="IBM Plex Sans" pitchFamily="34" charset="0"/>
                <a:ea typeface="IBM Plex Sans" pitchFamily="34" charset="-122"/>
                <a:cs typeface="IBM Plex Sans" pitchFamily="34" charset="-120"/>
              </a:rPr>
              <a:t>Why it builds right first time</a:t>
            </a:r>
            <a:endParaRPr lang="en-US" sz="1400" dirty="0"/>
          </a:p>
        </p:txBody>
      </p:sp>
      <p:sp>
        <p:nvSpPr>
          <p:cNvPr id="12" name="Text 10"/>
          <p:cNvSpPr/>
          <p:nvPr/>
        </p:nvSpPr>
        <p:spPr>
          <a:xfrm>
            <a:off x="7883144" y="2362101"/>
            <a:ext cx="3595878" cy="141218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E1A45"/>
                </a:solidFill>
                <a:latin typeface="IBM Plex Sans" pitchFamily="34" charset="0"/>
                <a:ea typeface="IBM Plex Sans" pitchFamily="34" charset="-122"/>
                <a:cs typeface="IBM Plex Sans" pitchFamily="34" charset="-120"/>
              </a:rPr>
              <a:t>Exact folders it owns</a:t>
            </a:r>
            <a:endParaRPr lang="en-US" sz="1300" dirty="0"/>
          </a:p>
          <a:p>
            <a:pPr algn="l" marL="168656" indent="-168656">
              <a:lnSpc>
                <a:spcPts val="1820"/>
              </a:lnSpc>
              <a:buSzPct val="100000"/>
              <a:buChar char="•"/>
            </a:pPr>
            <a:r>
              <a:rPr lang="en-US" sz="1300" dirty="0">
                <a:solidFill>
                  <a:srgbClr val="1E1A45"/>
                </a:solidFill>
                <a:latin typeface="IBM Plex Sans" pitchFamily="34" charset="0"/>
                <a:ea typeface="IBM Plex Sans" pitchFamily="34" charset="-122"/>
                <a:cs typeface="IBM Plex Sans" pitchFamily="34" charset="-120"/>
              </a:rPr>
              <a:t>The screen file is the design of record</a:t>
            </a:r>
            <a:endParaRPr lang="en-US" sz="1300" dirty="0"/>
          </a:p>
          <a:p>
            <a:pPr algn="l" marL="168656" indent="-168656">
              <a:lnSpc>
                <a:spcPts val="1820"/>
              </a:lnSpc>
              <a:buSzPct val="100000"/>
              <a:buChar char="•"/>
            </a:pPr>
            <a:r>
              <a:rPr lang="en-US" sz="1300" dirty="0">
                <a:solidFill>
                  <a:srgbClr val="1E1A45"/>
                </a:solidFill>
                <a:latin typeface="IBM Plex Sans" pitchFamily="34" charset="0"/>
                <a:ea typeface="IBM Plex Sans" pitchFamily="34" charset="-122"/>
                <a:cs typeface="IBM Plex Sans" pitchFamily="34" charset="-120"/>
              </a:rPr>
              <a:t>Clicks and failures are ACs</a:t>
            </a:r>
            <a:endParaRPr lang="en-US" sz="1300" dirty="0"/>
          </a:p>
          <a:p>
            <a:pPr algn="l" marL="168656" indent="-168656">
              <a:lnSpc>
                <a:spcPts val="1820"/>
              </a:lnSpc>
              <a:buSzPct val="100000"/>
              <a:buChar char="•"/>
            </a:pPr>
            <a:r>
              <a:rPr lang="en-US" sz="1300" dirty="0">
                <a:solidFill>
                  <a:srgbClr val="1E1A45"/>
                </a:solidFill>
                <a:latin typeface="IBM Plex Sans" pitchFamily="34" charset="0"/>
                <a:ea typeface="IBM Plex Sans" pitchFamily="34" charset="-122"/>
                <a:cs typeface="IBM Plex Sans" pitchFamily="34" charset="-120"/>
              </a:rPr>
              <a:t>Fixture data, not a live backend</a:t>
            </a:r>
            <a:endParaRPr lang="en-US" sz="1300" dirty="0"/>
          </a:p>
          <a:p>
            <a:pPr algn="l" marL="168656" indent="-168656">
              <a:lnSpc>
                <a:spcPts val="1820"/>
              </a:lnSpc>
              <a:buSzPct val="100000"/>
              <a:buChar char="•"/>
            </a:pPr>
            <a:r>
              <a:rPr lang="en-US" sz="1300" dirty="0">
                <a:solidFill>
                  <a:srgbClr val="1E1A45"/>
                </a:solidFill>
                <a:latin typeface="IBM Plex Sans" pitchFamily="34" charset="0"/>
                <a:ea typeface="IBM Plex Sans" pitchFamily="34" charset="-122"/>
                <a:cs typeface="IBM Plex Sans" pitchFamily="34" charset="-120"/>
              </a:rPr>
              <a:t>One command proves it</a:t>
            </a:r>
            <a:endParaRPr lang="en-US" sz="1300" dirty="0"/>
          </a:p>
          <a:p>
            <a:pPr algn="l" marL="168656" indent="-168656">
              <a:lnSpc>
                <a:spcPts val="1820"/>
              </a:lnSpc>
              <a:buSzPct val="100000"/>
              <a:buChar char="•"/>
            </a:pPr>
            <a:r>
              <a:rPr lang="en-US" sz="1300" dirty="0">
                <a:solidFill>
                  <a:srgbClr val="1E1A45"/>
                </a:solidFill>
                <a:latin typeface="IBM Plex Sans" pitchFamily="34" charset="0"/>
                <a:ea typeface="IBM Plex Sans" pitchFamily="34" charset="-122"/>
                <a:cs typeface="IBM Plex Sans" pitchFamily="34" charset="-120"/>
              </a:rPr>
              <a:t>12 links back to the spec</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Trimmed from HOS-UI ticket Q-45 (6 ACs, 5.3k characters in Jira) · Spec coding with Cursor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03 · WHY DETAIL MATTERS</a:t>
            </a:r>
            <a:endParaRPr lang="en-US" sz="1200" dirty="0"/>
          </a:p>
        </p:txBody>
      </p:sp>
      <p:sp>
        <p:nvSpPr>
          <p:cNvPr id="3" name="Text 1"/>
          <p:cNvSpPr/>
          <p:nvPr>
            <p:ph type="title"/>
          </p:nvPr>
        </p:nvSpPr>
        <p:spPr>
          <a:xfrm>
            <a:off x="812800" y="13055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Blockers turn tickets into a schedule</a:t>
            </a:r>
            <a:endParaRPr lang="en-US" sz="3600" dirty="0"/>
          </a:p>
        </p:txBody>
      </p:sp>
      <p:sp>
        <p:nvSpPr>
          <p:cNvPr id="4" name="Shape 2"/>
          <p:cNvSpPr/>
          <p:nvPr/>
        </p:nvSpPr>
        <p:spPr>
          <a:xfrm>
            <a:off x="815975" y="2090986"/>
            <a:ext cx="2520950" cy="1365200"/>
          </a:xfrm>
          <a:prstGeom prst="roundRect">
            <a:avLst>
              <a:gd name="adj" fmla="val 7210"/>
            </a:avLst>
          </a:prstGeom>
          <a:solidFill>
            <a:srgbClr val="FDFCFF"/>
          </a:solidFill>
          <a:ln w="6350">
            <a:solidFill>
              <a:srgbClr val="E2DFF0"/>
            </a:solidFill>
            <a:prstDash val="solid"/>
          </a:ln>
        </p:spPr>
      </p:sp>
      <p:sp>
        <p:nvSpPr>
          <p:cNvPr id="5" name="Text 3"/>
          <p:cNvSpPr/>
          <p:nvPr/>
        </p:nvSpPr>
        <p:spPr>
          <a:xfrm>
            <a:off x="1022350" y="2271961"/>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5B46C9"/>
                </a:solidFill>
                <a:latin typeface="IBM Plex Sans" pitchFamily="34" charset="0"/>
                <a:ea typeface="IBM Plex Sans" pitchFamily="34" charset="-122"/>
                <a:cs typeface="IBM Plex Sans" pitchFamily="34" charset="-120"/>
              </a:rPr>
              <a:t>487</a:t>
            </a:r>
            <a:endParaRPr lang="en-US" sz="3600" dirty="0"/>
          </a:p>
        </p:txBody>
      </p:sp>
      <p:sp>
        <p:nvSpPr>
          <p:cNvPr id="6" name="Text 4"/>
          <p:cNvSpPr/>
          <p:nvPr/>
        </p:nvSpPr>
        <p:spPr>
          <a:xfrm>
            <a:off x="1022350" y="2812951"/>
            <a:ext cx="23114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6"/>
                </a:solidFill>
                <a:latin typeface="IBM Plex Sans" pitchFamily="34" charset="0"/>
                <a:ea typeface="IBM Plex Sans" pitchFamily="34" charset="-122"/>
                <a:cs typeface="IBM Plex Sans" pitchFamily="34" charset="-120"/>
              </a:rPr>
              <a:t>issues in the first Jira import</a:t>
            </a:r>
            <a:endParaRPr lang="en-US" sz="1300" dirty="0"/>
          </a:p>
        </p:txBody>
      </p:sp>
      <p:sp>
        <p:nvSpPr>
          <p:cNvPr id="7" name="Shape 5"/>
          <p:cNvSpPr/>
          <p:nvPr/>
        </p:nvSpPr>
        <p:spPr>
          <a:xfrm>
            <a:off x="3495675" y="2090986"/>
            <a:ext cx="2520950" cy="1365200"/>
          </a:xfrm>
          <a:prstGeom prst="roundRect">
            <a:avLst>
              <a:gd name="adj" fmla="val 7210"/>
            </a:avLst>
          </a:prstGeom>
          <a:solidFill>
            <a:srgbClr val="FDFCFF"/>
          </a:solidFill>
          <a:ln w="6350">
            <a:solidFill>
              <a:srgbClr val="E2DFF0"/>
            </a:solidFill>
            <a:prstDash val="solid"/>
          </a:ln>
        </p:spPr>
      </p:sp>
      <p:sp>
        <p:nvSpPr>
          <p:cNvPr id="8" name="Text 6"/>
          <p:cNvSpPr/>
          <p:nvPr/>
        </p:nvSpPr>
        <p:spPr>
          <a:xfrm>
            <a:off x="3702050" y="2271961"/>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5B46C9"/>
                </a:solidFill>
                <a:latin typeface="IBM Plex Sans" pitchFamily="34" charset="0"/>
                <a:ea typeface="IBM Plex Sans" pitchFamily="34" charset="-122"/>
                <a:cs typeface="IBM Plex Sans" pitchFamily="34" charset="-120"/>
              </a:rPr>
              <a:t>1,664</a:t>
            </a:r>
            <a:endParaRPr lang="en-US" sz="3600" dirty="0"/>
          </a:p>
        </p:txBody>
      </p:sp>
      <p:sp>
        <p:nvSpPr>
          <p:cNvPr id="9" name="Text 7"/>
          <p:cNvSpPr/>
          <p:nvPr/>
        </p:nvSpPr>
        <p:spPr>
          <a:xfrm>
            <a:off x="3702050" y="2812951"/>
            <a:ext cx="21714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6"/>
                </a:solidFill>
                <a:latin typeface="IBM Plex Sans" pitchFamily="34" charset="0"/>
                <a:ea typeface="IBM Plex Sans" pitchFamily="34" charset="-122"/>
                <a:cs typeface="IBM Plex Sans" pitchFamily="34" charset="-120"/>
              </a:rPr>
              <a:t>Blocks links, each one checked</a:t>
            </a:r>
            <a:endParaRPr lang="en-US" sz="1300" dirty="0"/>
          </a:p>
        </p:txBody>
      </p:sp>
      <p:sp>
        <p:nvSpPr>
          <p:cNvPr id="10" name="Shape 8"/>
          <p:cNvSpPr/>
          <p:nvPr/>
        </p:nvSpPr>
        <p:spPr>
          <a:xfrm>
            <a:off x="6175375" y="2090986"/>
            <a:ext cx="2520950" cy="1365200"/>
          </a:xfrm>
          <a:prstGeom prst="roundRect">
            <a:avLst>
              <a:gd name="adj" fmla="val 7210"/>
            </a:avLst>
          </a:prstGeom>
          <a:solidFill>
            <a:srgbClr val="FDFCFF"/>
          </a:solidFill>
          <a:ln w="6350">
            <a:solidFill>
              <a:srgbClr val="E2DFF0"/>
            </a:solidFill>
            <a:prstDash val="solid"/>
          </a:ln>
        </p:spPr>
      </p:sp>
      <p:sp>
        <p:nvSpPr>
          <p:cNvPr id="11" name="Text 9"/>
          <p:cNvSpPr/>
          <p:nvPr/>
        </p:nvSpPr>
        <p:spPr>
          <a:xfrm>
            <a:off x="6381750" y="2271961"/>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5B46C9"/>
                </a:solidFill>
                <a:latin typeface="IBM Plex Sans" pitchFamily="34" charset="0"/>
                <a:ea typeface="IBM Plex Sans" pitchFamily="34" charset="-122"/>
                <a:cs typeface="IBM Plex Sans" pitchFamily="34" charset="-120"/>
              </a:rPr>
              <a:t>18</a:t>
            </a:r>
            <a:endParaRPr lang="en-US" sz="3600" dirty="0"/>
          </a:p>
        </p:txBody>
      </p:sp>
      <p:sp>
        <p:nvSpPr>
          <p:cNvPr id="12" name="Text 10"/>
          <p:cNvSpPr/>
          <p:nvPr/>
        </p:nvSpPr>
        <p:spPr>
          <a:xfrm>
            <a:off x="6381750" y="2812951"/>
            <a:ext cx="21714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6"/>
                </a:solidFill>
                <a:latin typeface="IBM Plex Sans" pitchFamily="34" charset="0"/>
                <a:ea typeface="IBM Plex Sans" pitchFamily="34" charset="-122"/>
                <a:cs typeface="IBM Plex Sans" pitchFamily="34" charset="-120"/>
              </a:rPr>
              <a:t>agents at once, merge on green</a:t>
            </a:r>
            <a:endParaRPr lang="en-US" sz="1300" dirty="0"/>
          </a:p>
        </p:txBody>
      </p:sp>
      <p:sp>
        <p:nvSpPr>
          <p:cNvPr id="13" name="Shape 11"/>
          <p:cNvSpPr/>
          <p:nvPr/>
        </p:nvSpPr>
        <p:spPr>
          <a:xfrm>
            <a:off x="8855075" y="2090986"/>
            <a:ext cx="2520950" cy="1365200"/>
          </a:xfrm>
          <a:prstGeom prst="roundRect">
            <a:avLst>
              <a:gd name="adj" fmla="val 7210"/>
            </a:avLst>
          </a:prstGeom>
          <a:solidFill>
            <a:srgbClr val="FDFCFF"/>
          </a:solidFill>
          <a:ln w="6350">
            <a:solidFill>
              <a:srgbClr val="E2DFF0"/>
            </a:solidFill>
            <a:prstDash val="solid"/>
          </a:ln>
        </p:spPr>
      </p:sp>
      <p:sp>
        <p:nvSpPr>
          <p:cNvPr id="14" name="Text 12"/>
          <p:cNvSpPr/>
          <p:nvPr/>
        </p:nvSpPr>
        <p:spPr>
          <a:xfrm>
            <a:off x="9061450" y="2271961"/>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5B46C9"/>
                </a:solidFill>
                <a:latin typeface="IBM Plex Sans" pitchFamily="34" charset="0"/>
                <a:ea typeface="IBM Plex Sans" pitchFamily="34" charset="-122"/>
                <a:cs typeface="IBM Plex Sans" pitchFamily="34" charset="-120"/>
              </a:rPr>
              <a:t>0</a:t>
            </a:r>
            <a:endParaRPr lang="en-US" sz="3600" dirty="0"/>
          </a:p>
        </p:txBody>
      </p:sp>
      <p:sp>
        <p:nvSpPr>
          <p:cNvPr id="15" name="Text 13"/>
          <p:cNvSpPr/>
          <p:nvPr/>
        </p:nvSpPr>
        <p:spPr>
          <a:xfrm>
            <a:off x="9061450" y="2812951"/>
            <a:ext cx="217144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6"/>
                </a:solidFill>
                <a:latin typeface="IBM Plex Sans" pitchFamily="34" charset="0"/>
                <a:ea typeface="IBM Plex Sans" pitchFamily="34" charset="-122"/>
                <a:cs typeface="IBM Plex Sans" pitchFamily="34" charset="-120"/>
              </a:rPr>
              <a:t>duplicate external IDs</a:t>
            </a:r>
            <a:endParaRPr lang="en-US" sz="1300" dirty="0"/>
          </a:p>
        </p:txBody>
      </p:sp>
      <p:sp>
        <p:nvSpPr>
          <p:cNvPr id="16" name="Shape 14"/>
          <p:cNvSpPr/>
          <p:nvPr/>
        </p:nvSpPr>
        <p:spPr>
          <a:xfrm>
            <a:off x="812800" y="3738761"/>
            <a:ext cx="2222500" cy="749250"/>
          </a:xfrm>
          <a:prstGeom prst="roundRect">
            <a:avLst>
              <a:gd name="adj" fmla="val 11865"/>
            </a:avLst>
          </a:prstGeom>
          <a:solidFill>
            <a:srgbClr val="17133A"/>
          </a:solidFill>
          <a:ln/>
        </p:spPr>
      </p:sp>
      <p:sp>
        <p:nvSpPr>
          <p:cNvPr id="17" name="Text 15"/>
          <p:cNvSpPr/>
          <p:nvPr/>
        </p:nvSpPr>
        <p:spPr>
          <a:xfrm>
            <a:off x="977900" y="3878461"/>
            <a:ext cx="19490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5FB"/>
                </a:solidFill>
                <a:latin typeface="IBM Plex Sans" pitchFamily="34" charset="0"/>
                <a:ea typeface="IBM Plex Sans" pitchFamily="34" charset="-122"/>
                <a:cs typeface="IBM Plex Sans" pitchFamily="34" charset="-120"/>
              </a:rPr>
              <a:t>Platform starts</a:t>
            </a:r>
            <a:endParaRPr lang="en-US" sz="1300" dirty="0"/>
          </a:p>
        </p:txBody>
      </p:sp>
      <p:sp>
        <p:nvSpPr>
          <p:cNvPr id="18" name="Text 16"/>
          <p:cNvSpPr/>
          <p:nvPr/>
        </p:nvSpPr>
        <p:spPr>
          <a:xfrm>
            <a:off x="977900" y="4134991"/>
            <a:ext cx="19490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EC8F0"/>
                </a:solidFill>
                <a:latin typeface="IBM Plex Sans" pitchFamily="34" charset="0"/>
                <a:ea typeface="IBM Plex Sans" pitchFamily="34" charset="-122"/>
                <a:cs typeface="IBM Plex Sans" pitchFamily="34" charset="-120"/>
              </a:rPr>
              <a:t>T+0</a:t>
            </a:r>
            <a:endParaRPr lang="en-US" sz="1200" dirty="0"/>
          </a:p>
        </p:txBody>
      </p:sp>
      <p:pic>
        <p:nvPicPr>
          <p:cNvPr id="19" name="Image 0" descr="arrow-right">    </p:cNvPr>
          <p:cNvPicPr>
            <a:picLocks noChangeAspect="1"/>
          </p:cNvPicPr>
          <p:nvPr/>
        </p:nvPicPr>
        <p:blipFill>
          <a:blip r:embed="rId1"/>
          <a:srcRect l="0" r="0" t="0" b="0"/>
          <a:stretch/>
        </p:blipFill>
        <p:spPr>
          <a:xfrm>
            <a:off x="3136900" y="4024461"/>
            <a:ext cx="355600" cy="177800"/>
          </a:xfrm>
          <a:prstGeom prst="rect">
            <a:avLst/>
          </a:prstGeom>
        </p:spPr>
      </p:pic>
      <p:sp>
        <p:nvSpPr>
          <p:cNvPr id="20" name="Shape 17"/>
          <p:cNvSpPr/>
          <p:nvPr/>
        </p:nvSpPr>
        <p:spPr>
          <a:xfrm>
            <a:off x="3594100" y="3738761"/>
            <a:ext cx="2222500" cy="749250"/>
          </a:xfrm>
          <a:prstGeom prst="roundRect">
            <a:avLst>
              <a:gd name="adj" fmla="val 11865"/>
            </a:avLst>
          </a:prstGeom>
          <a:solidFill>
            <a:srgbClr val="17133A"/>
          </a:solidFill>
          <a:ln/>
        </p:spPr>
      </p:sp>
      <p:sp>
        <p:nvSpPr>
          <p:cNvPr id="21" name="Text 18"/>
          <p:cNvSpPr/>
          <p:nvPr/>
        </p:nvSpPr>
        <p:spPr>
          <a:xfrm>
            <a:off x="3759200" y="3878461"/>
            <a:ext cx="19490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5FB"/>
                </a:solidFill>
                <a:latin typeface="IBM Plex Sans" pitchFamily="34" charset="0"/>
                <a:ea typeface="IBM Plex Sans" pitchFamily="34" charset="-122"/>
                <a:cs typeface="IBM Plex Sans" pitchFamily="34" charset="-120"/>
              </a:rPr>
              <a:t>Admin starts</a:t>
            </a:r>
            <a:endParaRPr lang="en-US" sz="1300" dirty="0"/>
          </a:p>
        </p:txBody>
      </p:sp>
      <p:sp>
        <p:nvSpPr>
          <p:cNvPr id="22" name="Text 19"/>
          <p:cNvSpPr/>
          <p:nvPr/>
        </p:nvSpPr>
        <p:spPr>
          <a:xfrm>
            <a:off x="3759200" y="4134991"/>
            <a:ext cx="19490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EC8F0"/>
                </a:solidFill>
                <a:latin typeface="IBM Plex Sans" pitchFamily="34" charset="0"/>
                <a:ea typeface="IBM Plex Sans" pitchFamily="34" charset="-122"/>
                <a:cs typeface="IBM Plex Sans" pitchFamily="34" charset="-120"/>
              </a:rPr>
              <a:t>G-READY green ≈ T+167h</a:t>
            </a:r>
            <a:endParaRPr lang="en-US" sz="1200" dirty="0"/>
          </a:p>
        </p:txBody>
      </p:sp>
      <p:pic>
        <p:nvPicPr>
          <p:cNvPr id="23" name="Image 1" descr="arrow-right">    </p:cNvPr>
          <p:cNvPicPr>
            <a:picLocks noChangeAspect="1"/>
          </p:cNvPicPr>
          <p:nvPr/>
        </p:nvPicPr>
        <p:blipFill>
          <a:blip r:embed="rId2"/>
          <a:srcRect l="0" r="0" t="0" b="0"/>
          <a:stretch/>
        </p:blipFill>
        <p:spPr>
          <a:xfrm>
            <a:off x="5918200" y="4024461"/>
            <a:ext cx="355600" cy="177800"/>
          </a:xfrm>
          <a:prstGeom prst="rect">
            <a:avLst/>
          </a:prstGeom>
        </p:spPr>
      </p:pic>
      <p:sp>
        <p:nvSpPr>
          <p:cNvPr id="24" name="Shape 20"/>
          <p:cNvSpPr/>
          <p:nvPr/>
        </p:nvSpPr>
        <p:spPr>
          <a:xfrm>
            <a:off x="6375400" y="3738761"/>
            <a:ext cx="2222500" cy="749250"/>
          </a:xfrm>
          <a:prstGeom prst="roundRect">
            <a:avLst>
              <a:gd name="adj" fmla="val 11865"/>
            </a:avLst>
          </a:prstGeom>
          <a:solidFill>
            <a:srgbClr val="17133A"/>
          </a:solidFill>
          <a:ln/>
        </p:spPr>
      </p:sp>
      <p:sp>
        <p:nvSpPr>
          <p:cNvPr id="25" name="Text 21"/>
          <p:cNvSpPr/>
          <p:nvPr/>
        </p:nvSpPr>
        <p:spPr>
          <a:xfrm>
            <a:off x="6540500" y="3878461"/>
            <a:ext cx="19490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5FB"/>
                </a:solidFill>
                <a:latin typeface="IBM Plex Sans" pitchFamily="34" charset="0"/>
                <a:ea typeface="IBM Plex Sans" pitchFamily="34" charset="-122"/>
                <a:cs typeface="IBM Plex Sans" pitchFamily="34" charset="-120"/>
              </a:rPr>
              <a:t>UI starts</a:t>
            </a:r>
            <a:endParaRPr lang="en-US" sz="1300" dirty="0"/>
          </a:p>
        </p:txBody>
      </p:sp>
      <p:sp>
        <p:nvSpPr>
          <p:cNvPr id="26" name="Text 22"/>
          <p:cNvSpPr/>
          <p:nvPr/>
        </p:nvSpPr>
        <p:spPr>
          <a:xfrm>
            <a:off x="6540500" y="4134991"/>
            <a:ext cx="19490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EC8F0"/>
                </a:solidFill>
                <a:latin typeface="IBM Plex Sans" pitchFamily="34" charset="0"/>
                <a:ea typeface="IBM Plex Sans" pitchFamily="34" charset="-122"/>
                <a:cs typeface="IBM Plex Sans" pitchFamily="34" charset="-120"/>
              </a:rPr>
              <a:t>G-RBAC green ≈ T+225h</a:t>
            </a:r>
            <a:endParaRPr lang="en-US" sz="1200" dirty="0"/>
          </a:p>
        </p:txBody>
      </p:sp>
      <p:pic>
        <p:nvPicPr>
          <p:cNvPr id="27" name="Image 2" descr="arrow-right">    </p:cNvPr>
          <p:cNvPicPr>
            <a:picLocks noChangeAspect="1"/>
          </p:cNvPicPr>
          <p:nvPr/>
        </p:nvPicPr>
        <p:blipFill>
          <a:blip r:embed="rId3"/>
          <a:srcRect l="0" r="0" t="0" b="0"/>
          <a:stretch/>
        </p:blipFill>
        <p:spPr>
          <a:xfrm>
            <a:off x="8699500" y="4024461"/>
            <a:ext cx="355600" cy="177800"/>
          </a:xfrm>
          <a:prstGeom prst="rect">
            <a:avLst/>
          </a:prstGeom>
        </p:spPr>
      </p:pic>
      <p:sp>
        <p:nvSpPr>
          <p:cNvPr id="28" name="Shape 23"/>
          <p:cNvSpPr/>
          <p:nvPr/>
        </p:nvSpPr>
        <p:spPr>
          <a:xfrm>
            <a:off x="9156700" y="3738761"/>
            <a:ext cx="2222500" cy="749250"/>
          </a:xfrm>
          <a:prstGeom prst="roundRect">
            <a:avLst>
              <a:gd name="adj" fmla="val 11865"/>
            </a:avLst>
          </a:prstGeom>
          <a:solidFill>
            <a:srgbClr val="17133A"/>
          </a:solidFill>
          <a:ln/>
        </p:spPr>
      </p:sp>
      <p:sp>
        <p:nvSpPr>
          <p:cNvPr id="29" name="Text 24"/>
          <p:cNvSpPr/>
          <p:nvPr/>
        </p:nvSpPr>
        <p:spPr>
          <a:xfrm>
            <a:off x="9321800" y="3878461"/>
            <a:ext cx="19490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5FB"/>
                </a:solidFill>
                <a:latin typeface="IBM Plex Sans" pitchFamily="34" charset="0"/>
                <a:ea typeface="IBM Plex Sans" pitchFamily="34" charset="-122"/>
                <a:cs typeface="IBM Plex Sans" pitchFamily="34" charset="-120"/>
              </a:rPr>
              <a:t>All done</a:t>
            </a:r>
            <a:endParaRPr lang="en-US" sz="1300" dirty="0"/>
          </a:p>
        </p:txBody>
      </p:sp>
      <p:sp>
        <p:nvSpPr>
          <p:cNvPr id="30" name="Text 25"/>
          <p:cNvSpPr/>
          <p:nvPr/>
        </p:nvSpPr>
        <p:spPr>
          <a:xfrm>
            <a:off x="9321800" y="4134991"/>
            <a:ext cx="19490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EC8F0"/>
                </a:solidFill>
                <a:latin typeface="IBM Plex Sans" pitchFamily="34" charset="0"/>
                <a:ea typeface="IBM Plex Sans" pitchFamily="34" charset="-122"/>
                <a:cs typeface="IBM Plex Sans" pitchFamily="34" charset="-120"/>
              </a:rPr>
              <a:t>plan 17 days, actual 10</a:t>
            </a:r>
            <a:endParaRPr lang="en-US" sz="1200" dirty="0"/>
          </a:p>
        </p:txBody>
      </p:sp>
      <p:sp>
        <p:nvSpPr>
          <p:cNvPr id="31" name="Text 26"/>
          <p:cNvSpPr/>
          <p:nvPr/>
        </p:nvSpPr>
        <p:spPr>
          <a:xfrm>
            <a:off x="812800" y="4767411"/>
            <a:ext cx="11379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A45"/>
                </a:solidFill>
                <a:latin typeface="IBM Plex Sans" pitchFamily="34" charset="0"/>
                <a:ea typeface="IBM Plex Sans" pitchFamily="34" charset="-122"/>
                <a:cs typeface="IBM Plex Sans" pitchFamily="34" charset="-120"/>
              </a:rPr>
              <a:t>Jira Cloud import rules:</a:t>
            </a:r>
            <a:r>
              <a:rPr lang="en-US" sz="1400" dirty="0">
                <a:solidFill>
                  <a:srgbClr val="4A4766"/>
                </a:solidFill>
                <a:latin typeface="IBM Plex Sans" pitchFamily="34" charset="0"/>
                <a:ea typeface="IBM Plex Sans" pitchFamily="34" charset="-122"/>
                <a:cs typeface="IBM Plex Sans" pitchFamily="34" charset="-120"/>
              </a:rPr>
              <a:t> external ID = plan ID · status “To Do” · strip reporter, created and Story Points (a locked field in Jira Cloud).</a:t>
            </a:r>
            <a:endParaRPr lang="en-US" sz="1400" dirty="0"/>
          </a:p>
        </p:txBody>
      </p:sp>
      <p:sp>
        <p:nvSpPr>
          <p:cNvPr id="32"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Spec coding with Cursor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04 · SKILLS</a:t>
            </a:r>
            <a:endParaRPr lang="en-US" sz="1200" dirty="0"/>
          </a:p>
        </p:txBody>
      </p:sp>
      <p:sp>
        <p:nvSpPr>
          <p:cNvPr id="3" name="Text 1"/>
          <p:cNvSpPr/>
          <p:nvPr>
            <p:ph type="title"/>
          </p:nvPr>
        </p:nvSpPr>
        <p:spPr>
          <a:xfrm>
            <a:off x="812800" y="13055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Build skills on top of the requirements you already have</a:t>
            </a:r>
            <a:endParaRPr lang="en-US" sz="3600" dirty="0"/>
          </a:p>
        </p:txBody>
      </p:sp>
      <p:sp>
        <p:nvSpPr>
          <p:cNvPr id="4" name="Shape 2"/>
          <p:cNvSpPr/>
          <p:nvPr/>
        </p:nvSpPr>
        <p:spPr>
          <a:xfrm>
            <a:off x="2209800" y="2590701"/>
            <a:ext cx="3556000" cy="741611"/>
          </a:xfrm>
          <a:prstGeom prst="roundRect">
            <a:avLst>
              <a:gd name="adj" fmla="val 11987"/>
            </a:avLst>
          </a:prstGeom>
          <a:solidFill>
            <a:srgbClr val="F4A83A"/>
          </a:solidFill>
          <a:ln/>
        </p:spPr>
      </p:sp>
      <p:sp>
        <p:nvSpPr>
          <p:cNvPr id="5" name="Text 3"/>
          <p:cNvSpPr/>
          <p:nvPr/>
        </p:nvSpPr>
        <p:spPr>
          <a:xfrm>
            <a:off x="2387600" y="2717701"/>
            <a:ext cx="32964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133A"/>
                </a:solidFill>
                <a:latin typeface="IBM Plex Sans" pitchFamily="34" charset="0"/>
                <a:ea typeface="IBM Plex Sans" pitchFamily="34" charset="-122"/>
                <a:cs typeface="IBM Plex Sans" pitchFamily="34" charset="-120"/>
              </a:rPr>
              <a:t>Ticket: “Implement Q-45”</a:t>
            </a:r>
            <a:endParaRPr lang="en-US" sz="1400" dirty="0"/>
          </a:p>
        </p:txBody>
      </p:sp>
      <p:sp>
        <p:nvSpPr>
          <p:cNvPr id="6" name="Text 4"/>
          <p:cNvSpPr/>
          <p:nvPr/>
        </p:nvSpPr>
        <p:spPr>
          <a:xfrm>
            <a:off x="2387600" y="2991991"/>
            <a:ext cx="32964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33A"/>
                </a:solidFill>
                <a:latin typeface="IBM Plex Sans" pitchFamily="34" charset="0"/>
                <a:ea typeface="IBM Plex Sans" pitchFamily="34" charset="-122"/>
                <a:cs typeface="IBM Plex Sans" pitchFamily="34" charset="-120"/>
              </a:rPr>
              <a:t>grounded in the spec, never in a guess</a:t>
            </a:r>
            <a:endParaRPr lang="en-US" sz="1200" dirty="0"/>
          </a:p>
        </p:txBody>
      </p:sp>
      <p:sp>
        <p:nvSpPr>
          <p:cNvPr id="7" name="Shape 5"/>
          <p:cNvSpPr/>
          <p:nvPr/>
        </p:nvSpPr>
        <p:spPr>
          <a:xfrm>
            <a:off x="1701800" y="3408511"/>
            <a:ext cx="4572000" cy="741611"/>
          </a:xfrm>
          <a:prstGeom prst="roundRect">
            <a:avLst>
              <a:gd name="adj" fmla="val 11987"/>
            </a:avLst>
          </a:prstGeom>
          <a:solidFill>
            <a:srgbClr val="5B46C9"/>
          </a:solidFill>
          <a:ln/>
        </p:spPr>
      </p:sp>
      <p:sp>
        <p:nvSpPr>
          <p:cNvPr id="8" name="Text 6"/>
          <p:cNvSpPr/>
          <p:nvPr/>
        </p:nvSpPr>
        <p:spPr>
          <a:xfrm>
            <a:off x="1879600" y="3535511"/>
            <a:ext cx="43428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B"/>
                </a:solidFill>
                <a:latin typeface="IBM Plex Sans" pitchFamily="34" charset="0"/>
                <a:ea typeface="IBM Plex Sans" pitchFamily="34" charset="-122"/>
                <a:cs typeface="IBM Plex Sans" pitchFamily="34" charset="-120"/>
              </a:rPr>
              <a:t>Spec-pack rules</a:t>
            </a:r>
            <a:endParaRPr lang="en-US" sz="1400" dirty="0"/>
          </a:p>
        </p:txBody>
      </p:sp>
      <p:sp>
        <p:nvSpPr>
          <p:cNvPr id="9" name="Text 7"/>
          <p:cNvSpPr/>
          <p:nvPr/>
        </p:nvSpPr>
        <p:spPr>
          <a:xfrm>
            <a:off x="1879600" y="3809802"/>
            <a:ext cx="43428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E6FA"/>
                </a:solidFill>
                <a:latin typeface="IBM Plex Sans" pitchFamily="34" charset="0"/>
                <a:ea typeface="IBM Plex Sans" pitchFamily="34" charset="-122"/>
                <a:cs typeface="IBM Plex Sans" pitchFamily="34" charset="-120"/>
              </a:rPr>
              <a:t>AGENTS.md, program pages, module and ticket rules</a:t>
            </a:r>
            <a:endParaRPr lang="en-US" sz="1200" dirty="0"/>
          </a:p>
        </p:txBody>
      </p:sp>
      <p:sp>
        <p:nvSpPr>
          <p:cNvPr id="10" name="Shape 8"/>
          <p:cNvSpPr/>
          <p:nvPr/>
        </p:nvSpPr>
        <p:spPr>
          <a:xfrm>
            <a:off x="1257300" y="4226322"/>
            <a:ext cx="5461000" cy="741611"/>
          </a:xfrm>
          <a:prstGeom prst="roundRect">
            <a:avLst>
              <a:gd name="adj" fmla="val 11987"/>
            </a:avLst>
          </a:prstGeom>
          <a:solidFill>
            <a:srgbClr val="3F2F9E"/>
          </a:solidFill>
          <a:ln/>
        </p:spPr>
      </p:sp>
      <p:sp>
        <p:nvSpPr>
          <p:cNvPr id="11" name="Text 9"/>
          <p:cNvSpPr/>
          <p:nvPr/>
        </p:nvSpPr>
        <p:spPr>
          <a:xfrm>
            <a:off x="1435100" y="4353322"/>
            <a:ext cx="525856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B"/>
                </a:solidFill>
                <a:latin typeface="IBM Plex Sans" pitchFamily="34" charset="0"/>
                <a:ea typeface="IBM Plex Sans" pitchFamily="34" charset="-122"/>
                <a:cs typeface="IBM Plex Sans" pitchFamily="34" charset="-120"/>
              </a:rPr>
              <a:t>Your coding requirements</a:t>
            </a:r>
            <a:endParaRPr lang="en-US" sz="1400" dirty="0"/>
          </a:p>
        </p:txBody>
      </p:sp>
      <p:sp>
        <p:nvSpPr>
          <p:cNvPr id="12" name="Text 10"/>
          <p:cNvSpPr/>
          <p:nvPr/>
        </p:nvSpPr>
        <p:spPr>
          <a:xfrm>
            <a:off x="1435100" y="4627612"/>
            <a:ext cx="5258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E6FA"/>
                </a:solidFill>
                <a:latin typeface="IBM Plex Sans" pitchFamily="34" charset="0"/>
                <a:ea typeface="IBM Plex Sans" pitchFamily="34" charset="-122"/>
                <a:cs typeface="IBM Plex Sans" pitchFamily="34" charset="-120"/>
              </a:rPr>
              <a:t>Stack locks, layout, ports, security, tenancy</a:t>
            </a:r>
            <a:endParaRPr lang="en-US" sz="1200" dirty="0"/>
          </a:p>
        </p:txBody>
      </p:sp>
      <p:sp>
        <p:nvSpPr>
          <p:cNvPr id="13" name="Shape 11"/>
          <p:cNvSpPr/>
          <p:nvPr/>
        </p:nvSpPr>
        <p:spPr>
          <a:xfrm>
            <a:off x="812800" y="5044132"/>
            <a:ext cx="6350000" cy="741611"/>
          </a:xfrm>
          <a:prstGeom prst="roundRect">
            <a:avLst>
              <a:gd name="adj" fmla="val 11987"/>
            </a:avLst>
          </a:prstGeom>
          <a:solidFill>
            <a:srgbClr val="17133A"/>
          </a:solidFill>
          <a:ln/>
        </p:spPr>
      </p:sp>
      <p:sp>
        <p:nvSpPr>
          <p:cNvPr id="14" name="Text 12"/>
          <p:cNvSpPr/>
          <p:nvPr/>
        </p:nvSpPr>
        <p:spPr>
          <a:xfrm>
            <a:off x="990600" y="5171132"/>
            <a:ext cx="617423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B"/>
                </a:solidFill>
                <a:latin typeface="IBM Plex Sans" pitchFamily="34" charset="0"/>
                <a:ea typeface="IBM Plex Sans" pitchFamily="34" charset="-122"/>
                <a:cs typeface="IBM Plex Sans" pitchFamily="34" charset="-120"/>
              </a:rPr>
              <a:t>Imported coding discipline</a:t>
            </a:r>
            <a:endParaRPr lang="en-US" sz="1400" dirty="0"/>
          </a:p>
        </p:txBody>
      </p:sp>
      <p:sp>
        <p:nvSpPr>
          <p:cNvPr id="15" name="Text 13"/>
          <p:cNvSpPr/>
          <p:nvPr/>
        </p:nvSpPr>
        <p:spPr>
          <a:xfrm>
            <a:off x="990600" y="5445423"/>
            <a:ext cx="61742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EC8F0"/>
                </a:solidFill>
                <a:latin typeface="IBM Plex Sans" pitchFamily="34" charset="0"/>
                <a:ea typeface="IBM Plex Sans" pitchFamily="34" charset="-122"/>
                <a:cs typeface="IBM Plex Sans" pitchFamily="34" charset="-120"/>
              </a:rPr>
              <a:t>Ponytail, Superpowers: minimal code, TDD, debugging, verification</a:t>
            </a:r>
            <a:endParaRPr lang="en-US" sz="1200" dirty="0"/>
          </a:p>
        </p:txBody>
      </p:sp>
      <p:sp>
        <p:nvSpPr>
          <p:cNvPr id="16" name="Text 14"/>
          <p:cNvSpPr/>
          <p:nvPr/>
        </p:nvSpPr>
        <p:spPr>
          <a:xfrm>
            <a:off x="7467600" y="3395762"/>
            <a:ext cx="402894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1A45"/>
                </a:solidFill>
                <a:latin typeface="IBM Plex Sans" pitchFamily="34" charset="0"/>
                <a:ea typeface="IBM Plex Sans" pitchFamily="34" charset="-122"/>
                <a:cs typeface="IBM Plex Sans" pitchFamily="34" charset="-120"/>
              </a:rPr>
              <a:t>Every ticket, screen and function traces back to a spec file that lives in the repo.</a:t>
            </a:r>
            <a:endParaRPr lang="en-US" sz="1500" dirty="0"/>
          </a:p>
        </p:txBody>
      </p:sp>
      <p:sp>
        <p:nvSpPr>
          <p:cNvPr id="17" name="Text 15"/>
          <p:cNvSpPr/>
          <p:nvPr/>
        </p:nvSpPr>
        <p:spPr>
          <a:xfrm>
            <a:off x="7467600" y="4056162"/>
            <a:ext cx="4028948" cy="9499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1A45"/>
                </a:solidFill>
                <a:latin typeface="IBM Plex Sans" pitchFamily="34" charset="0"/>
                <a:ea typeface="IBM Plex Sans" pitchFamily="34" charset="-122"/>
                <a:cs typeface="IBM Plex Sans" pitchFamily="34" charset="-120"/>
              </a:rPr>
              <a:t>Cursor cloud agents</a:t>
            </a:r>
            <a:r>
              <a:rPr lang="en-US" sz="1300" dirty="0">
                <a:solidFill>
                  <a:srgbClr val="4A4766"/>
                </a:solidFill>
                <a:latin typeface="IBM Plex Sans" pitchFamily="34" charset="0"/>
                <a:ea typeface="IBM Plex Sans" pitchFamily="34" charset="-122"/>
                <a:cs typeface="IBM Plex Sans" pitchFamily="34" charset="-120"/>
              </a:rPr>
              <a:t> only see skills and rules committed to the repo, in .cursor/skills and .cursor/rules. Plugins on someone’s laptop never reach them.</a:t>
            </a:r>
            <a:endParaRPr lang="en-US" sz="13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Cursor docs, cursor.com/docs/skills · Spec coding with Cursor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04 · SKILLS TO IMPORT</a:t>
            </a:r>
            <a:endParaRPr lang="en-US" sz="1200" dirty="0"/>
          </a:p>
        </p:txBody>
      </p:sp>
      <p:sp>
        <p:nvSpPr>
          <p:cNvPr id="3" name="Text 1"/>
          <p:cNvSpPr/>
          <p:nvPr>
            <p:ph type="title"/>
          </p:nvPr>
        </p:nvSpPr>
        <p:spPr>
          <a:xfrm>
            <a:off x="812800" y="1254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Five skill packs worth importing</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8911"/>
          <a:ext cx="10553700" cy="3062684"/>
        </p:xfrm>
        <a:graphic>
          <a:graphicData uri="http://schemas.openxmlformats.org/drawingml/2006/table">
            <a:tbl>
              <a:tblPr/>
              <a:tblGrid>
                <a:gridCol w="2532888"/>
                <a:gridCol w="5910072"/>
                <a:gridCol w="2110740"/>
              </a:tblGrid>
              <a:tr h="332680">
                <a:tc>
                  <a:txBody>
                    <a:bodyPr/>
                    <a:lstStyle/>
                    <a:p>
                      <a:pPr indent="0" marL="0">
                        <a:lnSpc>
                          <a:spcPts val="1680"/>
                        </a:lnSpc>
                        <a:buNone/>
                      </a:pPr>
                      <a:r>
                        <a:rPr lang="en-US" sz="1200" b="1" dirty="0">
                          <a:solidFill>
                            <a:srgbClr val="1E1A45"/>
                          </a:solidFill>
                          <a:latin typeface="IBM Plex Sans" pitchFamily="34" charset="0"/>
                          <a:ea typeface="IBM Plex Sans" pitchFamily="34" charset="-122"/>
                          <a:cs typeface="IBM Plex Sans" pitchFamily="34" charset="-120"/>
                        </a:rPr>
                        <a:t>Skill pack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8"/>
                      </a:solidFill>
                      <a:prstDash val="solid"/>
                      <a:round/>
                      <a:headEnd type="none" w="med" len="med"/>
                      <a:tailEnd type="none" w="med" len="med"/>
                    </a:lnL>
                    <a:lnR w="12700" cap="flat" cmpd="sng" algn="ctr">
                      <a:solidFill>
                        <a:srgbClr val="B6B5B9"/>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5B9"/>
                      </a:solidFill>
                      <a:prstDash val="solid"/>
                      <a:round/>
                      <a:headEnd type="none" w="med" len="med"/>
                      <a:tailEnd type="none" w="med" len="med"/>
                    </a:lnB>
                    <a:solidFill>
                      <a:srgbClr val="E4E3E8"/>
                    </a:solidFill>
                  </a:tcPr>
                </a:tc>
                <a:tc>
                  <a:txBody>
                    <a:bodyPr/>
                    <a:lstStyle/>
                    <a:p>
                      <a:pPr indent="0" marL="0">
                        <a:lnSpc>
                          <a:spcPts val="1680"/>
                        </a:lnSpc>
                        <a:buNone/>
                      </a:pPr>
                      <a:r>
                        <a:rPr lang="en-US" sz="1200" b="1" dirty="0">
                          <a:solidFill>
                            <a:srgbClr val="1E1A45"/>
                          </a:solidFill>
                          <a:latin typeface="IBM Plex Sans" pitchFamily="34" charset="0"/>
                          <a:ea typeface="IBM Plex Sans" pitchFamily="34" charset="-122"/>
                          <a:cs typeface="IBM Plex Sans" pitchFamily="34" charset="-120"/>
                        </a:rPr>
                        <a:t>Why import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9"/>
                      </a:solidFill>
                      <a:prstDash val="solid"/>
                      <a:round/>
                      <a:headEnd type="none" w="med" len="med"/>
                      <a:tailEnd type="none" w="med" len="med"/>
                    </a:lnL>
                    <a:lnR w="12700" cap="flat" cmpd="sng" algn="ctr">
                      <a:solidFill>
                        <a:srgbClr val="B6B5B9"/>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5B9"/>
                      </a:solidFill>
                      <a:prstDash val="solid"/>
                      <a:round/>
                      <a:headEnd type="none" w="med" len="med"/>
                      <a:tailEnd type="none" w="med" len="med"/>
                    </a:lnB>
                    <a:solidFill>
                      <a:srgbClr val="E4E3E8"/>
                    </a:solidFill>
                  </a:tcPr>
                </a:tc>
                <a:tc>
                  <a:txBody>
                    <a:bodyPr/>
                    <a:lstStyle/>
                    <a:p>
                      <a:pPr indent="0" marL="0">
                        <a:lnSpc>
                          <a:spcPts val="1680"/>
                        </a:lnSpc>
                        <a:buNone/>
                      </a:pPr>
                      <a:r>
                        <a:rPr lang="en-US" sz="1200" b="1" dirty="0">
                          <a:solidFill>
                            <a:srgbClr val="1E1A45"/>
                          </a:solidFill>
                          <a:latin typeface="IBM Plex Sans" pitchFamily="34" charset="0"/>
                          <a:ea typeface="IBM Plex Sans" pitchFamily="34" charset="-122"/>
                          <a:cs typeface="IBM Plex Sans" pitchFamily="34" charset="-120"/>
                        </a:rPr>
                        <a:t>Stars · license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9"/>
                      </a:solidFill>
                      <a:prstDash val="solid"/>
                      <a:round/>
                      <a:headEnd type="none" w="med" len="med"/>
                      <a:tailEnd type="none" w="med" len="med"/>
                    </a:lnL>
                    <a:lnR w="12700" cap="flat" cmpd="sng" algn="ctr">
                      <a:solidFill>
                        <a:srgbClr val="B6B5B9"/>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5B9"/>
                      </a:solidFill>
                      <a:prstDash val="solid"/>
                      <a:round/>
                      <a:headEnd type="none" w="med" len="med"/>
                      <a:tailEnd type="none" w="med" len="med"/>
                    </a:lnB>
                    <a:solidFill>
                      <a:srgbClr val="E4E3E8"/>
                    </a:solidFill>
                  </a:tcPr>
                </a:tc>
              </a:tr>
              <a:tr h="546001">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Ponytail</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DietrichGebert/ponytail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6B5B9"/>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Stops over-building: reuse, stdlib or native first, then minimum code. Keeps validation, security and tests on risky logic.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6B5B9"/>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~178k · 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6B5B9"/>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r h="546001">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Superpowers</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obra/superpowers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8"/>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TDD, systematic debugging, verification before “done”, plans, and a spec-compliance review before the code-quality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~305k · 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r>
              <a:tr h="546001">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Spec Kit</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github/spec-kit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Spec workflow: constitution, specify, plan, tasks, implement. OpenSpec (~73k, MIT) is lighter for existing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~144k · 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r h="546001">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Agent Skills</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addyosmani/agent-skills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8"/>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Review gates: code review, security hardening (OWASP, secrets), doubt-driven review; /ship runs four reviewers in parallel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~110k · 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r>
              <a:tr h="546001">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Anthropic skills</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anthropics/skills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skill-creator: the template for writing your own spec-pack skills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680"/>
                        </a:lnSpc>
                        <a:buNone/>
                      </a:pPr>
                      <a:r>
                        <a:rPr lang="en-US" sz="1200" dirty="0">
                          <a:solidFill>
                            <a:srgbClr val="1E1A45"/>
                          </a:solidFill>
                          <a:latin typeface="IBM Plex Sans" pitchFamily="34" charset="0"/>
                          <a:ea typeface="IBM Plex Sans" pitchFamily="34" charset="-122"/>
                          <a:cs typeface="IBM Plex Sans" pitchFamily="34" charset="-120"/>
                        </a:rPr>
                        <a:t>~183k · mostly Apache-2.0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bl>
          </a:graphicData>
        </a:graphic>
      </p:graphicFrame>
      <p:sp>
        <p:nvSpPr>
          <p:cNvPr id="5" name="Text 2"/>
          <p:cNvSpPr/>
          <p:nvPr/>
        </p:nvSpPr>
        <p:spPr>
          <a:xfrm>
            <a:off x="812800" y="5290195"/>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6"/>
                </a:solidFill>
                <a:latin typeface="IBM Plex Sans" pitchFamily="34" charset="0"/>
                <a:ea typeface="IBM Plex Sans" pitchFamily="34" charset="-122"/>
                <a:cs typeface="IBM Plex Sans" pitchFamily="34" charset="-120"/>
              </a:rPr>
              <a:t>Commit vendored copies to </a:t>
            </a:r>
            <a:r>
              <a:rPr lang="en-US" sz="1300" dirty="0">
                <a:solidFill>
                  <a:srgbClr val="5B46C9"/>
                </a:solidFill>
                <a:latin typeface="IBM Plex Sans" pitchFamily="34" charset="0"/>
                <a:ea typeface="IBM Plex Sans" pitchFamily="34" charset="-122"/>
                <a:cs typeface="IBM Plex Sans" pitchFamily="34" charset="-120"/>
              </a:rPr>
              <a:t>.cursor/skills/</a:t>
            </a:r>
            <a:r>
              <a:rPr lang="en-US" sz="1300" dirty="0">
                <a:solidFill>
                  <a:srgbClr val="4A4766"/>
                </a:solidFill>
                <a:latin typeface="IBM Plex Sans" pitchFamily="34" charset="0"/>
                <a:ea typeface="IBM Plex Sans" pitchFamily="34" charset="-122"/>
                <a:cs typeface="IBM Plex Sans" pitchFamily="34" charset="-120"/>
              </a:rPr>
              <a:t>, pinned to a commit, refreshed quarterly.</a:t>
            </a:r>
            <a:endParaRPr lang="en-US" sz="13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Stars from the ecosyste.ms GitHub mirror, Oct 2026 · Spec coding with Cursor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04 · THE HOS FOLDER LAYOUT</a:t>
            </a:r>
            <a:endParaRPr lang="en-US" sz="1200" dirty="0"/>
          </a:p>
        </p:txBody>
      </p:sp>
      <p:sp>
        <p:nvSpPr>
          <p:cNvPr id="3" name="Text 1"/>
          <p:cNvSpPr/>
          <p:nvPr>
            <p:ph type="title"/>
          </p:nvPr>
        </p:nvSpPr>
        <p:spPr>
          <a:xfrm>
            <a:off x="812800" y="12801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One pack folder, three programs, read-only to agents</a:t>
            </a:r>
            <a:endParaRPr lang="en-US" sz="3600" dirty="0"/>
          </a:p>
        </p:txBody>
      </p:sp>
      <p:sp>
        <p:nvSpPr>
          <p:cNvPr id="4" name="Text 2"/>
          <p:cNvSpPr/>
          <p:nvPr/>
        </p:nvSpPr>
        <p:spPr>
          <a:xfrm>
            <a:off x="812800" y="2539901"/>
            <a:ext cx="6350000" cy="3202831"/>
          </a:xfrm>
          <a:prstGeom prst="roundRect">
            <a:avLst>
              <a:gd name="adj" fmla="val 3965"/>
            </a:avLst>
          </a:prstGeom>
          <a:solidFill>
            <a:srgbClr val="17133A"/>
          </a:solidFill>
          <a:ln/>
        </p:spPr>
        <p:txBody>
          <a:bodyPr wrap="none" lIns="216803" tIns="191403" rIns="41543" bIns="191403" rtlCol="0" anchor="t">
            <a:normAutofit/>
          </a:bodyPr>
          <a:lstStyle/>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HOSPACK/</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 HOS/ </a:t>
            </a:r>
            <a:r>
              <a:rPr lang="en-US" sz="1200" dirty="0">
                <a:solidFill>
                  <a:srgbClr val="F4A83A"/>
                </a:solidFill>
                <a:latin typeface="JetBrains Mono" pitchFamily="49" charset="0"/>
                <a:ea typeface="JetBrains Mono" pitchFamily="49" charset="-122"/>
                <a:cs typeface="JetBrains Mono" pitchFamily="49" charset="-120"/>
              </a:rPr>
              <a:t>platform: LOOM · SWATCH · RUBRIC · CORE</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 ├─ LOOM/spec/ </a:t>
            </a:r>
            <a:r>
              <a:rPr lang="en-US" sz="1200" dirty="0">
                <a:solidFill>
                  <a:srgbClr val="CEC8F0"/>
                </a:solidFill>
                <a:latin typeface="JetBrains Mono" pitchFamily="49" charset="0"/>
                <a:ea typeface="JetBrains Mono" pitchFamily="49" charset="-122"/>
                <a:cs typeface="JetBrains Mono" pitchFamily="49" charset="-120"/>
              </a:rPr>
              <a:t>PRODUCT · SCHEMA · openapi · EVENTS</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 ├─ LOOM/ </a:t>
            </a:r>
            <a:r>
              <a:rPr lang="en-US" sz="1200" dirty="0">
                <a:solidFill>
                  <a:srgbClr val="CEC8F0"/>
                </a:solidFill>
                <a:latin typeface="JetBrains Mono" pitchFamily="49" charset="0"/>
                <a:ea typeface="JetBrains Mono" pitchFamily="49" charset="-122"/>
                <a:cs typeface="JetBrains Mono" pitchFamily="49" charset="-120"/>
              </a:rPr>
              <a:t>REQUIREMENTS-LEDGER · GAP-REPORT · ui/</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 ├─ tickets/ jira/ plan/ </a:t>
            </a:r>
            <a:r>
              <a:rPr lang="en-US" sz="1200" dirty="0">
                <a:solidFill>
                  <a:srgbClr val="CEC8F0"/>
                </a:solidFill>
                <a:latin typeface="JetBrains Mono" pitchFamily="49" charset="0"/>
                <a:ea typeface="JetBrains Mono" pitchFamily="49" charset="-122"/>
                <a:cs typeface="JetBrains Mono" pitchFamily="49" charset="-120"/>
              </a:rPr>
              <a:t>generated</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 ├─ repo-root/ </a:t>
            </a:r>
            <a:r>
              <a:rPr lang="en-US" sz="1200" dirty="0">
                <a:solidFill>
                  <a:srgbClr val="CEC8F0"/>
                </a:solidFill>
                <a:latin typeface="JetBrains Mono" pitchFamily="49" charset="0"/>
                <a:ea typeface="JetBrains Mono" pitchFamily="49" charset="-122"/>
                <a:cs typeface="JetBrains Mono" pitchFamily="49" charset="-120"/>
              </a:rPr>
              <a:t>AGENTS.md · CLAUDE.md · .cursor/</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 ├─ tools/ </a:t>
            </a:r>
            <a:r>
              <a:rPr lang="en-US" sz="1200" dirty="0">
                <a:solidFill>
                  <a:srgbClr val="CEC8F0"/>
                </a:solidFill>
                <a:latin typeface="JetBrains Mono" pitchFamily="49" charset="0"/>
                <a:ea typeface="JetBrains Mono" pitchFamily="49" charset="-122"/>
                <a:cs typeface="JetBrains Mono" pitchFamily="49" charset="-120"/>
              </a:rPr>
              <a:t>generators · validate.py · regen_all.sh</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 └─ JIRA_IMPORT_ALL.json · KICKOFF.md</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 HOS-Admin/ </a:t>
            </a:r>
            <a:r>
              <a:rPr lang="en-US" sz="1200" dirty="0">
                <a:solidFill>
                  <a:srgbClr val="F4A83A"/>
                </a:solidFill>
                <a:latin typeface="JetBrains Mono" pitchFamily="49" charset="0"/>
                <a:ea typeface="JetBrains Mono" pitchFamily="49" charset="-122"/>
                <a:cs typeface="JetBrains Mono" pitchFamily="49" charset="-120"/>
              </a:rPr>
              <a:t>AdminServer + admin UI</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 HOS-UI/ </a:t>
            </a:r>
            <a:r>
              <a:rPr lang="en-US" sz="1200" dirty="0">
                <a:solidFill>
                  <a:srgbClr val="F4A83A"/>
                </a:solidFill>
                <a:latin typeface="JetBrains Mono" pitchFamily="49" charset="0"/>
                <a:ea typeface="JetBrains Mono" pitchFamily="49" charset="-122"/>
                <a:cs typeface="JetBrains Mono" pitchFamily="49" charset="-120"/>
              </a:rPr>
              <a:t>HOSAppServer + TTEC Quality UI</a:t>
            </a:r>
            <a:endParaRPr lang="en-US" sz="1200" dirty="0"/>
          </a:p>
        </p:txBody>
      </p:sp>
      <p:sp>
        <p:nvSpPr>
          <p:cNvPr id="5" name="Text 3"/>
          <p:cNvSpPr/>
          <p:nvPr/>
        </p:nvSpPr>
        <p:spPr>
          <a:xfrm>
            <a:off x="7416800" y="2539901"/>
            <a:ext cx="408127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6C9"/>
                </a:solidFill>
                <a:latin typeface="IBM Plex Sans" pitchFamily="34" charset="0"/>
                <a:ea typeface="IBM Plex Sans" pitchFamily="34" charset="-122"/>
                <a:cs typeface="IBM Plex Sans" pitchFamily="34" charset="-120"/>
              </a:rPr>
              <a:t>Two zones</a:t>
            </a:r>
            <a:endParaRPr lang="en-US" sz="1400" dirty="0"/>
          </a:p>
        </p:txBody>
      </p:sp>
      <p:sp>
        <p:nvSpPr>
          <p:cNvPr id="6" name="Text 4"/>
          <p:cNvSpPr/>
          <p:nvPr/>
        </p:nvSpPr>
        <p:spPr>
          <a:xfrm>
            <a:off x="7416800" y="2839591"/>
            <a:ext cx="408127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1A45"/>
                </a:solidFill>
                <a:latin typeface="IBM Plex Sans" pitchFamily="34" charset="0"/>
                <a:ea typeface="IBM Plex Sans" pitchFamily="34" charset="-122"/>
                <a:cs typeface="IBM Plex Sans" pitchFamily="34" charset="-120"/>
              </a:rPr>
              <a:t>The pack is read-only. Code, live contracts and docs live at the repo root of HumanifyOS (Go) and HumanifyOS-UI (TypeScript).</a:t>
            </a:r>
            <a:endParaRPr lang="en-US" sz="1300" dirty="0"/>
          </a:p>
        </p:txBody>
      </p:sp>
      <p:sp>
        <p:nvSpPr>
          <p:cNvPr id="7" name="Text 5"/>
          <p:cNvSpPr/>
          <p:nvPr/>
        </p:nvSpPr>
        <p:spPr>
          <a:xfrm>
            <a:off x="7416800" y="3685381"/>
            <a:ext cx="408127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6C9"/>
                </a:solidFill>
                <a:latin typeface="IBM Plex Sans" pitchFamily="34" charset="0"/>
                <a:ea typeface="IBM Plex Sans" pitchFamily="34" charset="-122"/>
                <a:cs typeface="IBM Plex Sans" pitchFamily="34" charset="-120"/>
              </a:rPr>
              <a:t>.cursor/rules</a:t>
            </a:r>
            <a:endParaRPr lang="en-US" sz="1400" dirty="0"/>
          </a:p>
        </p:txBody>
      </p:sp>
      <p:sp>
        <p:nvSpPr>
          <p:cNvPr id="8" name="Text 6"/>
          <p:cNvSpPr/>
          <p:nvPr/>
        </p:nvSpPr>
        <p:spPr>
          <a:xfrm>
            <a:off x="7416800" y="3985071"/>
            <a:ext cx="4081272"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E1A45"/>
                </a:solidFill>
                <a:latin typeface="JetBrains Mono" pitchFamily="49" charset="0"/>
                <a:ea typeface="JetBrains Mono" pitchFamily="49" charset="-122"/>
                <a:cs typeface="JetBrains Mono" pitchFamily="49" charset="-120"/>
              </a:rPr>
              <a:t>00-hospack-always</a:t>
            </a:r>
            <a:endParaRPr lang="en-US" sz="1200" dirty="0"/>
          </a:p>
          <a:p>
            <a:pPr algn="l" indent="0" marL="0">
              <a:lnSpc>
                <a:spcPts val="1800"/>
              </a:lnSpc>
              <a:buNone/>
            </a:pPr>
            <a:r>
              <a:rPr lang="en-US" sz="1200" dirty="0">
                <a:solidFill>
                  <a:srgbClr val="1E1A45"/>
                </a:solidFill>
                <a:latin typeface="JetBrains Mono" pitchFamily="49" charset="0"/>
                <a:ea typeface="JetBrains Mono" pitchFamily="49" charset="-122"/>
                <a:cs typeface="JetBrains Mono" pitchFamily="49" charset="-120"/>
              </a:rPr>
              <a:t>02-program-*</a:t>
            </a:r>
            <a:endParaRPr lang="en-US" sz="1200" dirty="0"/>
          </a:p>
          <a:p>
            <a:pPr algn="l" indent="0" marL="0">
              <a:lnSpc>
                <a:spcPts val="1800"/>
              </a:lnSpc>
              <a:buNone/>
            </a:pPr>
            <a:r>
              <a:rPr lang="en-US" sz="1200" dirty="0">
                <a:solidFill>
                  <a:srgbClr val="1E1A45"/>
                </a:solidFill>
                <a:latin typeface="JetBrains Mono" pitchFamily="49" charset="0"/>
                <a:ea typeface="JetBrains Mono" pitchFamily="49" charset="-122"/>
                <a:cs typeface="JetBrains Mono" pitchFamily="49" charset="-120"/>
              </a:rPr>
              <a:t>10-frontend · 20–24 modules</a:t>
            </a:r>
            <a:endParaRPr lang="en-US" sz="1200" dirty="0"/>
          </a:p>
          <a:p>
            <a:pPr algn="l" indent="0" marL="0">
              <a:lnSpc>
                <a:spcPts val="1800"/>
              </a:lnSpc>
              <a:buNone/>
            </a:pPr>
            <a:r>
              <a:rPr lang="en-US" sz="1200" dirty="0">
                <a:solidFill>
                  <a:srgbClr val="1E1A45"/>
                </a:solidFill>
                <a:latin typeface="JetBrains Mono" pitchFamily="49" charset="0"/>
                <a:ea typeface="JetBrains Mono" pitchFamily="49" charset="-122"/>
                <a:cs typeface="JetBrains Mono" pitchFamily="49" charset="-120"/>
              </a:rPr>
              <a:t>30–35 topics · 40-ticket</a:t>
            </a:r>
            <a:endParaRPr lang="en-US" sz="1200" dirty="0"/>
          </a:p>
          <a:p>
            <a:pPr algn="l" indent="0" marL="0">
              <a:lnSpc>
                <a:spcPts val="1800"/>
              </a:lnSpc>
              <a:buNone/>
            </a:pPr>
            <a:r>
              <a:rPr lang="en-US" sz="1200" dirty="0">
                <a:solidFill>
                  <a:srgbClr val="1E1A45"/>
                </a:solidFill>
                <a:latin typeface="JetBrains Mono" pitchFamily="49" charset="0"/>
                <a:ea typeface="JetBrains Mono" pitchFamily="49" charset="-122"/>
                <a:cs typeface="JetBrains Mono" pitchFamily="49" charset="-120"/>
              </a:rPr>
              <a:t>45-ui-clicks</a:t>
            </a:r>
            <a:endParaRPr lang="en-US" sz="1200" dirty="0"/>
          </a:p>
        </p:txBody>
      </p:sp>
      <p:sp>
        <p:nvSpPr>
          <p:cNvPr id="9" name="Text 7"/>
          <p:cNvSpPr/>
          <p:nvPr/>
        </p:nvSpPr>
        <p:spPr>
          <a:xfrm>
            <a:off x="7416800" y="5280471"/>
            <a:ext cx="408127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6"/>
                </a:solidFill>
                <a:latin typeface="IBM Plex Sans" pitchFamily="34" charset="0"/>
                <a:ea typeface="IBM Plex Sans" pitchFamily="34" charset="-122"/>
                <a:cs typeface="IBM Plex Sans" pitchFamily="34" charset="-120"/>
              </a:rPr>
              <a:t>One small rule is always on; module and topic rules load by folder.</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Spec coding with Cursor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RUNNING IT · WARP</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Warp runs the pack: one parent, up to 18 agents</a:t>
            </a:r>
            <a:endParaRPr lang="en-US" sz="3600" dirty="0"/>
          </a:p>
        </p:txBody>
      </p:sp>
      <p:sp>
        <p:nvSpPr>
          <p:cNvPr id="4" name="Text 2"/>
          <p:cNvSpPr/>
          <p:nvPr/>
        </p:nvSpPr>
        <p:spPr>
          <a:xfrm>
            <a:off x="812800" y="2037011"/>
            <a:ext cx="1422400" cy="477490"/>
          </a:xfrm>
          <a:prstGeom prst="roundRect">
            <a:avLst>
              <a:gd name="adj" fmla="val 15958"/>
            </a:avLst>
          </a:prstGeom>
          <a:solidFill>
            <a:srgbClr val="17133A"/>
          </a:solidFill>
          <a:ln/>
        </p:spPr>
        <p:txBody>
          <a:bodyPr wrap="none" lIns="0" tIns="0" rIns="0" bIns="0" rtlCol="0" anchor="ctr">
            <a:normAutofit/>
          </a:bodyPr>
          <a:lstStyle/>
          <a:p>
            <a:pPr algn="ctr" indent="0" marL="0">
              <a:lnSpc>
                <a:spcPts val="1960"/>
              </a:lnSpc>
              <a:buNone/>
            </a:pPr>
            <a:r>
              <a:rPr lang="en-US" sz="1400" dirty="0">
                <a:solidFill>
                  <a:srgbClr val="F6F5FB"/>
                </a:solidFill>
                <a:latin typeface="JetBrains Mono" pitchFamily="49" charset="0"/>
                <a:ea typeface="JetBrains Mono" pitchFamily="49" charset="-122"/>
                <a:cs typeface="JetBrains Mono" pitchFamily="49" charset="-120"/>
              </a:rPr>
              <a:t>/warp-init</a:t>
            </a:r>
            <a:endParaRPr lang="en-US" sz="1400" dirty="0"/>
          </a:p>
        </p:txBody>
      </p:sp>
      <p:pic>
        <p:nvPicPr>
          <p:cNvPr id="5" name="Image 0" descr="arrow-right">    </p:cNvPr>
          <p:cNvPicPr>
            <a:picLocks noChangeAspect="1"/>
          </p:cNvPicPr>
          <p:nvPr/>
        </p:nvPicPr>
        <p:blipFill>
          <a:blip r:embed="rId1"/>
          <a:srcRect l="0" r="0" t="0" b="0"/>
          <a:stretch/>
        </p:blipFill>
        <p:spPr>
          <a:xfrm>
            <a:off x="2336800" y="2186831"/>
            <a:ext cx="355600" cy="177800"/>
          </a:xfrm>
          <a:prstGeom prst="rect">
            <a:avLst/>
          </a:prstGeom>
        </p:spPr>
      </p:pic>
      <p:sp>
        <p:nvSpPr>
          <p:cNvPr id="6" name="Text 3"/>
          <p:cNvSpPr/>
          <p:nvPr/>
        </p:nvSpPr>
        <p:spPr>
          <a:xfrm>
            <a:off x="2794000" y="2037011"/>
            <a:ext cx="2702570" cy="477490"/>
          </a:xfrm>
          <a:prstGeom prst="roundRect">
            <a:avLst>
              <a:gd name="adj" fmla="val 15958"/>
            </a:avLst>
          </a:prstGeom>
          <a:solidFill>
            <a:srgbClr val="17133A"/>
          </a:solidFill>
          <a:ln/>
        </p:spPr>
        <p:txBody>
          <a:bodyPr wrap="none" lIns="0" tIns="0" rIns="0" bIns="0" rtlCol="0" anchor="ctr">
            <a:normAutofit/>
          </a:bodyPr>
          <a:lstStyle/>
          <a:p>
            <a:pPr algn="ctr" indent="0" marL="0">
              <a:lnSpc>
                <a:spcPts val="1960"/>
              </a:lnSpc>
              <a:buNone/>
            </a:pPr>
            <a:r>
              <a:rPr lang="en-US" sz="1400" dirty="0">
                <a:solidFill>
                  <a:srgbClr val="F6F5FB"/>
                </a:solidFill>
                <a:latin typeface="JetBrains Mono" pitchFamily="49" charset="0"/>
                <a:ea typeface="JetBrains Mono" pitchFamily="49" charset="-122"/>
                <a:cs typeface="JetBrains Mono" pitchFamily="49" charset="-120"/>
              </a:rPr>
              <a:t>/warp-scan HOSPACK/HOS</a:t>
            </a:r>
            <a:endParaRPr lang="en-US" sz="1400" dirty="0"/>
          </a:p>
        </p:txBody>
      </p:sp>
      <p:pic>
        <p:nvPicPr>
          <p:cNvPr id="7" name="Image 1" descr="arrow-right">    </p:cNvPr>
          <p:cNvPicPr>
            <a:picLocks noChangeAspect="1"/>
          </p:cNvPicPr>
          <p:nvPr/>
        </p:nvPicPr>
        <p:blipFill>
          <a:blip r:embed="rId2"/>
          <a:srcRect l="0" r="0" t="0" b="0"/>
          <a:stretch/>
        </p:blipFill>
        <p:spPr>
          <a:xfrm>
            <a:off x="5598170" y="2186831"/>
            <a:ext cx="355600" cy="177800"/>
          </a:xfrm>
          <a:prstGeom prst="rect">
            <a:avLst/>
          </a:prstGeom>
        </p:spPr>
      </p:pic>
      <p:sp>
        <p:nvSpPr>
          <p:cNvPr id="8" name="Text 4"/>
          <p:cNvSpPr/>
          <p:nvPr/>
        </p:nvSpPr>
        <p:spPr>
          <a:xfrm>
            <a:off x="6055370" y="2037011"/>
            <a:ext cx="2169170" cy="477490"/>
          </a:xfrm>
          <a:prstGeom prst="roundRect">
            <a:avLst>
              <a:gd name="adj" fmla="val 15958"/>
            </a:avLst>
          </a:prstGeom>
          <a:solidFill>
            <a:srgbClr val="17133A"/>
          </a:solidFill>
          <a:ln/>
        </p:spPr>
        <p:txBody>
          <a:bodyPr wrap="none" lIns="0" tIns="0" rIns="0" bIns="0" rtlCol="0" anchor="ctr">
            <a:normAutofit/>
          </a:bodyPr>
          <a:lstStyle/>
          <a:p>
            <a:pPr algn="ctr" indent="0" marL="0">
              <a:lnSpc>
                <a:spcPts val="1960"/>
              </a:lnSpc>
              <a:buNone/>
            </a:pPr>
            <a:r>
              <a:rPr lang="en-US" sz="1400" dirty="0">
                <a:solidFill>
                  <a:srgbClr val="F6F5FB"/>
                </a:solidFill>
                <a:latin typeface="JetBrains Mono" pitchFamily="49" charset="0"/>
                <a:ea typeface="JetBrains Mono" pitchFamily="49" charset="-122"/>
                <a:cs typeface="JetBrains Mono" pitchFamily="49" charset="-120"/>
              </a:rPr>
              <a:t>/warp-start G0-G3</a:t>
            </a:r>
            <a:endParaRPr lang="en-US" sz="1400" dirty="0"/>
          </a:p>
        </p:txBody>
      </p:sp>
      <p:sp>
        <p:nvSpPr>
          <p:cNvPr id="9" name="Shape 5"/>
          <p:cNvSpPr/>
          <p:nvPr/>
        </p:nvSpPr>
        <p:spPr>
          <a:xfrm>
            <a:off x="815975" y="2771676"/>
            <a:ext cx="2520950" cy="1083221"/>
          </a:xfrm>
          <a:prstGeom prst="roundRect">
            <a:avLst>
              <a:gd name="adj" fmla="val 9086"/>
            </a:avLst>
          </a:prstGeom>
          <a:solidFill>
            <a:srgbClr val="FDFCFF"/>
          </a:solidFill>
          <a:ln w="6350">
            <a:solidFill>
              <a:srgbClr val="E2DFF0"/>
            </a:solidFill>
            <a:prstDash val="solid"/>
          </a:ln>
        </p:spPr>
      </p:sp>
      <p:sp>
        <p:nvSpPr>
          <p:cNvPr id="10" name="Text 6"/>
          <p:cNvSpPr/>
          <p:nvPr/>
        </p:nvSpPr>
        <p:spPr>
          <a:xfrm>
            <a:off x="1022350" y="295265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46C9"/>
                </a:solidFill>
                <a:latin typeface="IBM Plex Sans" pitchFamily="34" charset="0"/>
                <a:ea typeface="IBM Plex Sans" pitchFamily="34" charset="-122"/>
                <a:cs typeface="IBM Plex Sans" pitchFamily="34" charset="-120"/>
              </a:rPr>
              <a:t>Warp</a:t>
            </a:r>
            <a:endParaRPr lang="en-US" sz="1600" dirty="0"/>
          </a:p>
        </p:txBody>
      </p:sp>
      <p:sp>
        <p:nvSpPr>
          <p:cNvPr id="11" name="Text 7"/>
          <p:cNvSpPr/>
          <p:nvPr/>
        </p:nvSpPr>
        <p:spPr>
          <a:xfrm>
            <a:off x="1022350" y="324728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The parent: scans, dispatches, and is the only merger</a:t>
            </a:r>
            <a:endParaRPr lang="en-US" sz="1200" dirty="0"/>
          </a:p>
        </p:txBody>
      </p:sp>
      <p:sp>
        <p:nvSpPr>
          <p:cNvPr id="12" name="Shape 8"/>
          <p:cNvSpPr/>
          <p:nvPr/>
        </p:nvSpPr>
        <p:spPr>
          <a:xfrm>
            <a:off x="3495675" y="2771676"/>
            <a:ext cx="2520950" cy="1083221"/>
          </a:xfrm>
          <a:prstGeom prst="roundRect">
            <a:avLst>
              <a:gd name="adj" fmla="val 9086"/>
            </a:avLst>
          </a:prstGeom>
          <a:solidFill>
            <a:srgbClr val="FDFCFF"/>
          </a:solidFill>
          <a:ln w="6350">
            <a:solidFill>
              <a:srgbClr val="E2DFF0"/>
            </a:solidFill>
            <a:prstDash val="solid"/>
          </a:ln>
        </p:spPr>
      </p:sp>
      <p:sp>
        <p:nvSpPr>
          <p:cNvPr id="13" name="Text 9"/>
          <p:cNvSpPr/>
          <p:nvPr/>
        </p:nvSpPr>
        <p:spPr>
          <a:xfrm>
            <a:off x="3702050" y="295265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46C9"/>
                </a:solidFill>
                <a:latin typeface="IBM Plex Sans" pitchFamily="34" charset="0"/>
                <a:ea typeface="IBM Plex Sans" pitchFamily="34" charset="-122"/>
                <a:cs typeface="IBM Plex Sans" pitchFamily="34" charset="-120"/>
              </a:rPr>
              <a:t>Shuttle</a:t>
            </a:r>
            <a:endParaRPr lang="en-US" sz="1600" dirty="0"/>
          </a:p>
        </p:txBody>
      </p:sp>
      <p:sp>
        <p:nvSpPr>
          <p:cNvPr id="14" name="Text 10"/>
          <p:cNvSpPr/>
          <p:nvPr/>
        </p:nvSpPr>
        <p:spPr>
          <a:xfrm>
            <a:off x="3702050" y="324728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One ticket, one branch, one pull request</a:t>
            </a:r>
            <a:endParaRPr lang="en-US" sz="1200" dirty="0"/>
          </a:p>
        </p:txBody>
      </p:sp>
      <p:sp>
        <p:nvSpPr>
          <p:cNvPr id="15" name="Shape 11"/>
          <p:cNvSpPr/>
          <p:nvPr/>
        </p:nvSpPr>
        <p:spPr>
          <a:xfrm>
            <a:off x="6175375" y="2771676"/>
            <a:ext cx="2520950" cy="1083221"/>
          </a:xfrm>
          <a:prstGeom prst="roundRect">
            <a:avLst>
              <a:gd name="adj" fmla="val 9086"/>
            </a:avLst>
          </a:prstGeom>
          <a:solidFill>
            <a:srgbClr val="FDFCFF"/>
          </a:solidFill>
          <a:ln w="6350">
            <a:solidFill>
              <a:srgbClr val="E2DFF0"/>
            </a:solidFill>
            <a:prstDash val="solid"/>
          </a:ln>
        </p:spPr>
      </p:sp>
      <p:sp>
        <p:nvSpPr>
          <p:cNvPr id="16" name="Text 12"/>
          <p:cNvSpPr/>
          <p:nvPr/>
        </p:nvSpPr>
        <p:spPr>
          <a:xfrm>
            <a:off x="6381750" y="295265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46C9"/>
                </a:solidFill>
                <a:latin typeface="IBM Plex Sans" pitchFamily="34" charset="0"/>
                <a:ea typeface="IBM Plex Sans" pitchFamily="34" charset="-122"/>
                <a:cs typeface="IBM Plex Sans" pitchFamily="34" charset="-120"/>
              </a:rPr>
              <a:t>Reed</a:t>
            </a:r>
            <a:endParaRPr lang="en-US" sz="1600" dirty="0"/>
          </a:p>
        </p:txBody>
      </p:sp>
      <p:sp>
        <p:nvSpPr>
          <p:cNvPr id="17" name="Text 13"/>
          <p:cNvSpPr/>
          <p:nvPr/>
        </p:nvSpPr>
        <p:spPr>
          <a:xfrm>
            <a:off x="6381750" y="324728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Bugbot, evidence, auto-merge or hold</a:t>
            </a:r>
            <a:endParaRPr lang="en-US" sz="1200" dirty="0"/>
          </a:p>
        </p:txBody>
      </p:sp>
      <p:sp>
        <p:nvSpPr>
          <p:cNvPr id="18" name="Shape 14"/>
          <p:cNvSpPr/>
          <p:nvPr/>
        </p:nvSpPr>
        <p:spPr>
          <a:xfrm>
            <a:off x="8855075" y="2771676"/>
            <a:ext cx="2520950" cy="1083221"/>
          </a:xfrm>
          <a:prstGeom prst="roundRect">
            <a:avLst>
              <a:gd name="adj" fmla="val 9086"/>
            </a:avLst>
          </a:prstGeom>
          <a:solidFill>
            <a:srgbClr val="FDFCFF"/>
          </a:solidFill>
          <a:ln w="6350">
            <a:solidFill>
              <a:srgbClr val="E2DFF0"/>
            </a:solidFill>
            <a:prstDash val="solid"/>
          </a:ln>
        </p:spPr>
      </p:sp>
      <p:sp>
        <p:nvSpPr>
          <p:cNvPr id="19" name="Text 15"/>
          <p:cNvSpPr/>
          <p:nvPr/>
        </p:nvSpPr>
        <p:spPr>
          <a:xfrm>
            <a:off x="9061450" y="295265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46C9"/>
                </a:solidFill>
                <a:latin typeface="IBM Plex Sans" pitchFamily="34" charset="0"/>
                <a:ea typeface="IBM Plex Sans" pitchFamily="34" charset="-122"/>
                <a:cs typeface="IBM Plex Sans" pitchFamily="34" charset="-120"/>
              </a:rPr>
              <a:t>Herald</a:t>
            </a:r>
            <a:endParaRPr lang="en-US" sz="1600" dirty="0"/>
          </a:p>
        </p:txBody>
      </p:sp>
      <p:sp>
        <p:nvSpPr>
          <p:cNvPr id="20" name="Text 16"/>
          <p:cNvSpPr/>
          <p:nvPr/>
        </p:nvSpPr>
        <p:spPr>
          <a:xfrm>
            <a:off x="9061450" y="324728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Slack and Teams: status, alarms, approvals</a:t>
            </a:r>
            <a:endParaRPr lang="en-US" sz="1200" dirty="0"/>
          </a:p>
        </p:txBody>
      </p:sp>
      <p:sp>
        <p:nvSpPr>
          <p:cNvPr id="21" name="Text 17"/>
          <p:cNvSpPr/>
          <p:nvPr/>
        </p:nvSpPr>
        <p:spPr>
          <a:xfrm>
            <a:off x="812800" y="411207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A45"/>
                </a:solidFill>
                <a:latin typeface="IBM Plex Sans" pitchFamily="34" charset="0"/>
                <a:ea typeface="IBM Plex Sans" pitchFamily="34" charset="-122"/>
                <a:cs typeface="IBM Plex Sans" pitchFamily="34" charset="-120"/>
              </a:rPr>
              <a:t>Jira moves with the work</a:t>
            </a:r>
            <a:endParaRPr lang="en-US" sz="1400" dirty="0"/>
          </a:p>
        </p:txBody>
      </p:sp>
      <p:sp>
        <p:nvSpPr>
          <p:cNvPr id="22" name="Text 18"/>
          <p:cNvSpPr/>
          <p:nvPr/>
        </p:nvSpPr>
        <p:spPr>
          <a:xfrm>
            <a:off x="812800" y="4437162"/>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66"/>
                </a:solidFill>
                <a:latin typeface="IBM Plex Sans" pitchFamily="34" charset="0"/>
                <a:ea typeface="IBM Plex Sans" pitchFamily="34" charset="-122"/>
                <a:cs typeface="IBM Plex Sans" pitchFamily="34" charset="-120"/>
              </a:rPr>
              <a:t>To Do → In Progress → In Review (Bugbot) → QA Ready (L, XL) → Done</a:t>
            </a:r>
            <a:endParaRPr lang="en-US" sz="1400" dirty="0"/>
          </a:p>
        </p:txBody>
      </p:sp>
      <p:sp>
        <p:nvSpPr>
          <p:cNvPr id="23"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github.com/smlsr/warp, v1.7.13 · Spec coding with Cursor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05 · MODEL SELECTION</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No sledgehammer for simple UI work</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11"/>
          <a:ext cx="6591300" cy="2076450"/>
        </p:xfrm>
        <a:graphic>
          <a:graphicData uri="http://schemas.openxmlformats.org/drawingml/2006/table">
            <a:tbl>
              <a:tblPr/>
              <a:tblGrid>
                <a:gridCol w="790956"/>
                <a:gridCol w="922782"/>
                <a:gridCol w="2900172"/>
                <a:gridCol w="1977390"/>
              </a:tblGrid>
              <a:tr h="346075">
                <a:tc>
                  <a:txBody>
                    <a:bodyPr/>
                    <a:lstStyle/>
                    <a:p>
                      <a:pPr indent="0" marL="0">
                        <a:lnSpc>
                          <a:spcPts val="1750"/>
                        </a:lnSpc>
                        <a:buNone/>
                      </a:pPr>
                      <a:r>
                        <a:rPr lang="en-US" sz="1250" b="1" dirty="0">
                          <a:solidFill>
                            <a:srgbClr val="1E1A45"/>
                          </a:solidFill>
                          <a:latin typeface="IBM Plex Sans" pitchFamily="34" charset="0"/>
                          <a:ea typeface="IBM Plex Sans" pitchFamily="34" charset="-122"/>
                          <a:cs typeface="IBM Plex Sans" pitchFamily="34" charset="-120"/>
                        </a:rPr>
                        <a:t>Size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B6B5B9"/>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5B9"/>
                      </a:solidFill>
                      <a:prstDash val="solid"/>
                      <a:round/>
                      <a:headEnd type="none" w="med" len="med"/>
                      <a:tailEnd type="none" w="med" len="med"/>
                    </a:lnB>
                    <a:solidFill>
                      <a:srgbClr val="E4E3E8"/>
                    </a:solidFill>
                  </a:tcPr>
                </a:tc>
                <a:tc>
                  <a:txBody>
                    <a:bodyPr/>
                    <a:lstStyle/>
                    <a:p>
                      <a:pPr indent="0" marL="0">
                        <a:lnSpc>
                          <a:spcPts val="1750"/>
                        </a:lnSpc>
                        <a:buNone/>
                      </a:pPr>
                      <a:r>
                        <a:rPr lang="en-US" sz="1250" b="1" dirty="0">
                          <a:solidFill>
                            <a:srgbClr val="1E1A45"/>
                          </a:solidFill>
                          <a:latin typeface="IBM Plex Sans" pitchFamily="34" charset="0"/>
                          <a:ea typeface="IBM Plex Sans" pitchFamily="34" charset="-122"/>
                          <a:cs typeface="IBM Plex Sans" pitchFamily="34" charset="-120"/>
                        </a:rPr>
                        <a:t>Hours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6B5B9"/>
                      </a:solidFill>
                      <a:prstDash val="solid"/>
                      <a:round/>
                      <a:headEnd type="none" w="med" len="med"/>
                      <a:tailEnd type="none" w="med" len="med"/>
                    </a:lnL>
                    <a:lnR w="12700" cap="flat" cmpd="sng" algn="ctr">
                      <a:solidFill>
                        <a:srgbClr val="B6B5B9"/>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5B9"/>
                      </a:solidFill>
                      <a:prstDash val="solid"/>
                      <a:round/>
                      <a:headEnd type="none" w="med" len="med"/>
                      <a:tailEnd type="none" w="med" len="med"/>
                    </a:lnB>
                    <a:solidFill>
                      <a:srgbClr val="E4E3E8"/>
                    </a:solidFill>
                  </a:tcPr>
                </a:tc>
                <a:tc>
                  <a:txBody>
                    <a:bodyPr/>
                    <a:lstStyle/>
                    <a:p>
                      <a:pPr indent="0" marL="0">
                        <a:lnSpc>
                          <a:spcPts val="1750"/>
                        </a:lnSpc>
                        <a:buNone/>
                      </a:pPr>
                      <a:r>
                        <a:rPr lang="en-US" sz="1250" b="1" dirty="0">
                          <a:solidFill>
                            <a:srgbClr val="1E1A45"/>
                          </a:solidFill>
                          <a:latin typeface="IBM Plex Sans" pitchFamily="34" charset="0"/>
                          <a:ea typeface="IBM Plex Sans" pitchFamily="34" charset="-122"/>
                          <a:cs typeface="IBM Plex Sans" pitchFamily="34" charset="-120"/>
                        </a:rPr>
                        <a:t>Shuttle model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6B5B9"/>
                      </a:solidFill>
                      <a:prstDash val="solid"/>
                      <a:round/>
                      <a:headEnd type="none" w="med" len="med"/>
                      <a:tailEnd type="none" w="med" len="med"/>
                    </a:lnL>
                    <a:lnR w="12700" cap="flat" cmpd="sng" algn="ctr">
                      <a:solidFill>
                        <a:srgbClr val="B6B5B9"/>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5B9"/>
                      </a:solidFill>
                      <a:prstDash val="solid"/>
                      <a:round/>
                      <a:headEnd type="none" w="med" len="med"/>
                      <a:tailEnd type="none" w="med" len="med"/>
                    </a:lnB>
                    <a:solidFill>
                      <a:srgbClr val="E4E3E8"/>
                    </a:solidFill>
                  </a:tcPr>
                </a:tc>
                <a:tc>
                  <a:txBody>
                    <a:bodyPr/>
                    <a:lstStyle/>
                    <a:p>
                      <a:pPr indent="0" marL="0">
                        <a:lnSpc>
                          <a:spcPts val="1750"/>
                        </a:lnSpc>
                        <a:buNone/>
                      </a:pPr>
                      <a:r>
                        <a:rPr lang="en-US" sz="1250" b="1" dirty="0">
                          <a:solidFill>
                            <a:srgbClr val="1E1A45"/>
                          </a:solidFill>
                          <a:latin typeface="IBM Plex Sans" pitchFamily="34" charset="0"/>
                          <a:ea typeface="IBM Plex Sans" pitchFamily="34" charset="-122"/>
                          <a:cs typeface="IBM Plex Sans" pitchFamily="34" charset="-120"/>
                        </a:rPr>
                        <a:t>Merge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6B5B9"/>
                      </a:solidFill>
                      <a:prstDash val="solid"/>
                      <a:round/>
                      <a:headEnd type="none" w="med" len="med"/>
                      <a:tailEnd type="none" w="med" len="med"/>
                    </a:lnL>
                    <a:lnR w="12700" cap="flat" cmpd="sng" algn="ctr">
                      <a:solidFill>
                        <a:srgbClr val="B6B5B9"/>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5B9"/>
                      </a:solidFill>
                      <a:prstDash val="solid"/>
                      <a:round/>
                      <a:headEnd type="none" w="med" len="med"/>
                      <a:tailEnd type="none" w="med" len="med"/>
                    </a:lnB>
                    <a:solidFill>
                      <a:srgbClr val="E4E3E8"/>
                    </a:solidFill>
                  </a:tcPr>
                </a:tc>
              </a:tr>
              <a:tr h="346075">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6B5B9"/>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4</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6B5B9"/>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claude-haiku-5-5</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6B5B9"/>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Auto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6B5B9"/>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r h="346075">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M</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7</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claude-sonnet-5-5-high</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Auto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r>
              <a:tr h="346075">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11</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claude-sonnet-5-5-high</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Waits in QA Ready</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r h="346075">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XL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16</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claude-opus-5-5</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Waits in QA Ready</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r>
              <a:tr h="346075">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Fix</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claude-opus-5-5</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750"/>
                        </a:lnSpc>
                        <a:buNone/>
                      </a:pPr>
                      <a:r>
                        <a:rPr lang="en-US" sz="1250" dirty="0">
                          <a:solidFill>
                            <a:srgbClr val="1E1A45"/>
                          </a:solidFill>
                          <a:latin typeface="IBM Plex Sans" pitchFamily="34" charset="0"/>
                          <a:ea typeface="IBM Plex Sans" pitchFamily="34" charset="-122"/>
                          <a:cs typeface="IBM Plex Sans" pitchFamily="34" charset="-120"/>
                        </a:rPr>
                        <a:t>From fix round 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bl>
          </a:graphicData>
        </a:graphic>
      </p:graphicFrame>
      <p:sp>
        <p:nvSpPr>
          <p:cNvPr id="5" name="Text 2"/>
          <p:cNvSpPr/>
          <p:nvPr/>
        </p:nvSpPr>
        <p:spPr>
          <a:xfrm>
            <a:off x="812800" y="4278561"/>
            <a:ext cx="68021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6"/>
                </a:solidFill>
                <a:latin typeface="IBM Plex Sans" pitchFamily="34" charset="0"/>
                <a:ea typeface="IBM Plex Sans" pitchFamily="34" charset="-122"/>
                <a:cs typeface="IBM Plex Sans" pitchFamily="34" charset="-120"/>
              </a:rPr>
              <a:t>“Auto” means after Bugbot is clean, CI is green and every acceptance criterion passes. A ticket that fails 5 fix rounds parks for a person.</a:t>
            </a:r>
            <a:endParaRPr lang="en-US" sz="1300" dirty="0"/>
          </a:p>
        </p:txBody>
      </p:sp>
      <p:sp>
        <p:nvSpPr>
          <p:cNvPr id="6" name="Text 3"/>
          <p:cNvSpPr/>
          <p:nvPr/>
        </p:nvSpPr>
        <p:spPr>
          <a:xfrm>
            <a:off x="7670800" y="2037011"/>
            <a:ext cx="3708400" cy="2703810"/>
          </a:xfrm>
          <a:prstGeom prst="roundRect">
            <a:avLst>
              <a:gd name="adj" fmla="val 4697"/>
            </a:avLst>
          </a:prstGeom>
          <a:solidFill>
            <a:srgbClr val="17133A"/>
          </a:solidFill>
          <a:ln/>
        </p:spPr>
        <p:txBody>
          <a:bodyPr wrap="square" lIns="191403" tIns="191403" rIns="93867" bIns="191403" rtlCol="0" anchor="t">
            <a:normAutofit/>
          </a:bodyPr>
          <a:lstStyle/>
          <a:p>
            <a:pPr algn="l" indent="0" marL="0">
              <a:lnSpc>
                <a:spcPts val="1920"/>
              </a:lnSpc>
              <a:buNone/>
            </a:pPr>
            <a:r>
              <a:rPr lang="en-US" sz="1200" dirty="0">
                <a:solidFill>
                  <a:srgbClr val="F4A83A"/>
                </a:solidFill>
                <a:latin typeface="JetBrains Mono" pitchFamily="49" charset="0"/>
                <a:ea typeface="JetBrains Mono" pitchFamily="49" charset="-122"/>
                <a:cs typeface="JetBrains Mono" pitchFamily="49" charset="-120"/>
              </a:rPr>
              <a:t>.warp/config.yaml</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model: claude-sonnet-5-5-high</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modelS: claude-haiku-5-5</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modelXL: claude-opus-5-5</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fixModel: claude-opus-5-5</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fixModelAfter: 2</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maxFixAttempts: 5</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autoMergeSizes: S, M</a:t>
            </a:r>
            <a:endParaRPr lang="en-US" sz="1200" dirty="0"/>
          </a:p>
          <a:p>
            <a:pPr algn="l" indent="0" marL="0">
              <a:lnSpc>
                <a:spcPts val="1920"/>
              </a:lnSpc>
              <a:buNone/>
            </a:pPr>
            <a:r>
              <a:rPr lang="en-US" sz="1200" dirty="0">
                <a:solidFill>
                  <a:srgbClr val="E9E6FA"/>
                </a:solidFill>
                <a:latin typeface="JetBrains Mono" pitchFamily="49" charset="0"/>
                <a:ea typeface="JetBrains Mono" pitchFamily="49" charset="-122"/>
                <a:cs typeface="JetBrains Mono" pitchFamily="49" charset="-120"/>
              </a:rPr>
              <a:t>maxAgents: 18</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Warp 1.7.13 configuration · Spec coding with Cursor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06 · UNIT TESTING</a:t>
            </a:r>
            <a:endParaRPr lang="en-US" sz="1200" dirty="0"/>
          </a:p>
        </p:txBody>
      </p:sp>
      <p:sp>
        <p:nvSpPr>
          <p:cNvPr id="3" name="Text 1"/>
          <p:cNvSpPr/>
          <p:nvPr>
            <p:ph type="title"/>
          </p:nvPr>
        </p:nvSpPr>
        <p:spPr>
          <a:xfrm>
            <a:off x="812800" y="13055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Tests are how the agent proves the ticket</a:t>
            </a:r>
            <a:endParaRPr lang="en-US" sz="3600" dirty="0"/>
          </a:p>
        </p:txBody>
      </p:sp>
      <p:sp>
        <p:nvSpPr>
          <p:cNvPr id="4" name="Shape 2"/>
          <p:cNvSpPr/>
          <p:nvPr/>
        </p:nvSpPr>
        <p:spPr>
          <a:xfrm>
            <a:off x="815975" y="2090986"/>
            <a:ext cx="3414167" cy="1095921"/>
          </a:xfrm>
          <a:prstGeom prst="roundRect">
            <a:avLst>
              <a:gd name="adj" fmla="val 8981"/>
            </a:avLst>
          </a:prstGeom>
          <a:solidFill>
            <a:srgbClr val="FDFCFF"/>
          </a:solidFill>
          <a:ln w="6350">
            <a:solidFill>
              <a:srgbClr val="E2DFF0"/>
            </a:solidFill>
            <a:prstDash val="solid"/>
          </a:ln>
        </p:spPr>
      </p:sp>
      <p:sp>
        <p:nvSpPr>
          <p:cNvPr id="5" name="Text 3"/>
          <p:cNvSpPr/>
          <p:nvPr/>
        </p:nvSpPr>
        <p:spPr>
          <a:xfrm>
            <a:off x="1022350" y="227196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46C9"/>
                </a:solidFill>
                <a:latin typeface="IBM Plex Sans" pitchFamily="34" charset="0"/>
                <a:ea typeface="IBM Plex Sans" pitchFamily="34" charset="-122"/>
                <a:cs typeface="IBM Plex Sans" pitchFamily="34" charset="-120"/>
              </a:rPr>
              <a:t>One test per AC</a:t>
            </a:r>
            <a:endParaRPr lang="en-US" sz="1600" dirty="0"/>
          </a:p>
        </p:txBody>
      </p:sp>
      <p:sp>
        <p:nvSpPr>
          <p:cNvPr id="6" name="Text 4"/>
          <p:cNvSpPr/>
          <p:nvPr/>
        </p:nvSpPr>
        <p:spPr>
          <a:xfrm>
            <a:off x="1022350" y="257929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Named for it: </a:t>
            </a:r>
            <a:r>
              <a:rPr lang="en-US" sz="1200" dirty="0">
                <a:solidFill>
                  <a:srgbClr val="1E1A45"/>
                </a:solidFill>
                <a:latin typeface="IBM Plex Sans" pitchFamily="34" charset="0"/>
                <a:ea typeface="IBM Plex Sans" pitchFamily="34" charset="-122"/>
                <a:cs typeface="IBM Plex Sans" pitchFamily="34" charset="-120"/>
              </a:rPr>
              <a:t>Test_Q45_AC3_…</a:t>
            </a:r>
            <a:r>
              <a:rPr lang="en-US" sz="1200" dirty="0">
                <a:solidFill>
                  <a:srgbClr val="4A4766"/>
                </a:solidFill>
                <a:latin typeface="IBM Plex Sans" pitchFamily="34" charset="0"/>
                <a:ea typeface="IBM Plex Sans" pitchFamily="34" charset="-122"/>
                <a:cs typeface="IBM Plex Sans" pitchFamily="34" charset="-120"/>
              </a:rPr>
              <a:t>, so review is a checklist</a:t>
            </a:r>
            <a:endParaRPr lang="en-US" sz="1200" dirty="0"/>
          </a:p>
        </p:txBody>
      </p:sp>
      <p:sp>
        <p:nvSpPr>
          <p:cNvPr id="7" name="Shape 5"/>
          <p:cNvSpPr/>
          <p:nvPr/>
        </p:nvSpPr>
        <p:spPr>
          <a:xfrm>
            <a:off x="4388892" y="2090986"/>
            <a:ext cx="3414167" cy="1095921"/>
          </a:xfrm>
          <a:prstGeom prst="roundRect">
            <a:avLst>
              <a:gd name="adj" fmla="val 8981"/>
            </a:avLst>
          </a:prstGeom>
          <a:solidFill>
            <a:srgbClr val="FDFCFF"/>
          </a:solidFill>
          <a:ln w="6350">
            <a:solidFill>
              <a:srgbClr val="E2DFF0"/>
            </a:solidFill>
            <a:prstDash val="solid"/>
          </a:ln>
        </p:spPr>
      </p:sp>
      <p:sp>
        <p:nvSpPr>
          <p:cNvPr id="8" name="Text 6"/>
          <p:cNvSpPr/>
          <p:nvPr/>
        </p:nvSpPr>
        <p:spPr>
          <a:xfrm>
            <a:off x="4595267" y="227196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46C9"/>
                </a:solidFill>
                <a:latin typeface="IBM Plex Sans" pitchFamily="34" charset="0"/>
                <a:ea typeface="IBM Plex Sans" pitchFamily="34" charset="-122"/>
                <a:cs typeface="IBM Plex Sans" pitchFamily="34" charset="-120"/>
              </a:rPr>
              <a:t>One command</a:t>
            </a:r>
            <a:endParaRPr lang="en-US" sz="1600" dirty="0"/>
          </a:p>
        </p:txBody>
      </p:sp>
      <p:sp>
        <p:nvSpPr>
          <p:cNvPr id="9" name="Text 7"/>
          <p:cNvSpPr/>
          <p:nvPr/>
        </p:nvSpPr>
        <p:spPr>
          <a:xfrm>
            <a:off x="4595267" y="257929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Every ticket names the command that must exit 0 before the PR opens</a:t>
            </a:r>
            <a:endParaRPr lang="en-US" sz="1200" dirty="0"/>
          </a:p>
        </p:txBody>
      </p:sp>
      <p:sp>
        <p:nvSpPr>
          <p:cNvPr id="10" name="Shape 8"/>
          <p:cNvSpPr/>
          <p:nvPr/>
        </p:nvSpPr>
        <p:spPr>
          <a:xfrm>
            <a:off x="7961809" y="2090986"/>
            <a:ext cx="3414216" cy="1095921"/>
          </a:xfrm>
          <a:prstGeom prst="roundRect">
            <a:avLst>
              <a:gd name="adj" fmla="val 8981"/>
            </a:avLst>
          </a:prstGeom>
          <a:solidFill>
            <a:srgbClr val="FDFCFF"/>
          </a:solidFill>
          <a:ln w="6350">
            <a:solidFill>
              <a:srgbClr val="E2DFF0"/>
            </a:solidFill>
            <a:prstDash val="solid"/>
          </a:ln>
        </p:spPr>
      </p:sp>
      <p:sp>
        <p:nvSpPr>
          <p:cNvPr id="11" name="Text 9"/>
          <p:cNvSpPr/>
          <p:nvPr/>
        </p:nvSpPr>
        <p:spPr>
          <a:xfrm>
            <a:off x="8168184" y="227196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46C9"/>
                </a:solidFill>
                <a:latin typeface="IBM Plex Sans" pitchFamily="34" charset="0"/>
                <a:ea typeface="IBM Plex Sans" pitchFamily="34" charset="-122"/>
                <a:cs typeface="IBM Plex Sans" pitchFamily="34" charset="-120"/>
              </a:rPr>
              <a:t>Negative and edge</a:t>
            </a:r>
            <a:endParaRPr lang="en-US" sz="1600" dirty="0"/>
          </a:p>
        </p:txBody>
      </p:sp>
      <p:sp>
        <p:nvSpPr>
          <p:cNvPr id="12" name="Text 10"/>
          <p:cNvSpPr/>
          <p:nvPr/>
        </p:nvSpPr>
        <p:spPr>
          <a:xfrm>
            <a:off x="8168184" y="257929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At least one per ticket: 403s, 503s, empty data, wrong tenant</a:t>
            </a:r>
            <a:endParaRPr lang="en-US" sz="1200" dirty="0"/>
          </a:p>
        </p:txBody>
      </p:sp>
      <p:sp>
        <p:nvSpPr>
          <p:cNvPr id="13" name="Shape 11"/>
          <p:cNvSpPr/>
          <p:nvPr/>
        </p:nvSpPr>
        <p:spPr>
          <a:xfrm>
            <a:off x="815975" y="3345656"/>
            <a:ext cx="3414167" cy="1095921"/>
          </a:xfrm>
          <a:prstGeom prst="roundRect">
            <a:avLst>
              <a:gd name="adj" fmla="val 8981"/>
            </a:avLst>
          </a:prstGeom>
          <a:solidFill>
            <a:srgbClr val="FDFCFF"/>
          </a:solidFill>
          <a:ln w="6350">
            <a:solidFill>
              <a:srgbClr val="E2DFF0"/>
            </a:solidFill>
            <a:prstDash val="solid"/>
          </a:ln>
        </p:spPr>
      </p:sp>
      <p:sp>
        <p:nvSpPr>
          <p:cNvPr id="14" name="Text 12"/>
          <p:cNvSpPr/>
          <p:nvPr/>
        </p:nvSpPr>
        <p:spPr>
          <a:xfrm>
            <a:off x="1022350" y="352663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46C9"/>
                </a:solidFill>
                <a:latin typeface="IBM Plex Sans" pitchFamily="34" charset="0"/>
                <a:ea typeface="IBM Plex Sans" pitchFamily="34" charset="-122"/>
                <a:cs typeface="IBM Plex Sans" pitchFamily="34" charset="-120"/>
              </a:rPr>
              <a:t>Fixtures, not vendors</a:t>
            </a:r>
            <a:endParaRPr lang="en-US" sz="1600" dirty="0"/>
          </a:p>
        </p:txBody>
      </p:sp>
      <p:sp>
        <p:nvSpPr>
          <p:cNvPr id="15" name="Text 13"/>
          <p:cNvSpPr/>
          <p:nvPr/>
        </p:nvSpPr>
        <p:spPr>
          <a:xfrm>
            <a:off x="1022350" y="383396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Recorded data and mock handlers; no live services in unit tests</a:t>
            </a:r>
            <a:endParaRPr lang="en-US" sz="1200" dirty="0"/>
          </a:p>
        </p:txBody>
      </p:sp>
      <p:sp>
        <p:nvSpPr>
          <p:cNvPr id="16" name="Shape 14"/>
          <p:cNvSpPr/>
          <p:nvPr/>
        </p:nvSpPr>
        <p:spPr>
          <a:xfrm>
            <a:off x="4388892" y="3345656"/>
            <a:ext cx="3414167" cy="1095921"/>
          </a:xfrm>
          <a:prstGeom prst="roundRect">
            <a:avLst>
              <a:gd name="adj" fmla="val 8981"/>
            </a:avLst>
          </a:prstGeom>
          <a:solidFill>
            <a:srgbClr val="FDFCFF"/>
          </a:solidFill>
          <a:ln w="6350">
            <a:solidFill>
              <a:srgbClr val="E2DFF0"/>
            </a:solidFill>
            <a:prstDash val="solid"/>
          </a:ln>
        </p:spPr>
      </p:sp>
      <p:sp>
        <p:nvSpPr>
          <p:cNvPr id="17" name="Text 15"/>
          <p:cNvSpPr/>
          <p:nvPr/>
        </p:nvSpPr>
        <p:spPr>
          <a:xfrm>
            <a:off x="4595267" y="352663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46C9"/>
                </a:solidFill>
                <a:latin typeface="IBM Plex Sans" pitchFamily="34" charset="0"/>
                <a:ea typeface="IBM Plex Sans" pitchFamily="34" charset="-122"/>
                <a:cs typeface="IBM Plex Sans" pitchFamily="34" charset="-120"/>
              </a:rPr>
              <a:t>Visual baseline</a:t>
            </a:r>
            <a:endParaRPr lang="en-US" sz="1600" dirty="0"/>
          </a:p>
        </p:txBody>
      </p:sp>
      <p:sp>
        <p:nvSpPr>
          <p:cNvPr id="18" name="Text 16"/>
          <p:cNvSpPr/>
          <p:nvPr/>
        </p:nvSpPr>
        <p:spPr>
          <a:xfrm>
            <a:off x="4595267" y="383396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The render matches the screen PNG within 5%</a:t>
            </a:r>
            <a:endParaRPr lang="en-US" sz="1200" dirty="0"/>
          </a:p>
        </p:txBody>
      </p:sp>
      <p:sp>
        <p:nvSpPr>
          <p:cNvPr id="19" name="Shape 17"/>
          <p:cNvSpPr/>
          <p:nvPr/>
        </p:nvSpPr>
        <p:spPr>
          <a:xfrm>
            <a:off x="7961809" y="3345656"/>
            <a:ext cx="3414216" cy="1095921"/>
          </a:xfrm>
          <a:prstGeom prst="roundRect">
            <a:avLst>
              <a:gd name="adj" fmla="val 8981"/>
            </a:avLst>
          </a:prstGeom>
          <a:solidFill>
            <a:srgbClr val="FDFCFF"/>
          </a:solidFill>
          <a:ln w="6350">
            <a:solidFill>
              <a:srgbClr val="E2DFF0"/>
            </a:solidFill>
            <a:prstDash val="solid"/>
          </a:ln>
        </p:spPr>
      </p:sp>
      <p:sp>
        <p:nvSpPr>
          <p:cNvPr id="20" name="Text 18"/>
          <p:cNvSpPr/>
          <p:nvPr/>
        </p:nvSpPr>
        <p:spPr>
          <a:xfrm>
            <a:off x="8168184" y="352663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46C9"/>
                </a:solidFill>
                <a:latin typeface="IBM Plex Sans" pitchFamily="34" charset="0"/>
                <a:ea typeface="IBM Plex Sans" pitchFamily="34" charset="-122"/>
                <a:cs typeface="IBM Plex Sans" pitchFamily="34" charset="-120"/>
              </a:rPr>
              <a:t>Accessibility</a:t>
            </a:r>
            <a:endParaRPr lang="en-US" sz="1600" dirty="0"/>
          </a:p>
        </p:txBody>
      </p:sp>
      <p:sp>
        <p:nvSpPr>
          <p:cNvPr id="21" name="Text 19"/>
          <p:cNvSpPr/>
          <p:nvPr/>
        </p:nvSpPr>
        <p:spPr>
          <a:xfrm>
            <a:off x="8168184" y="383396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axe on every route and modal state, zero violations</a:t>
            </a:r>
            <a:endParaRPr lang="en-US" sz="1200" dirty="0"/>
          </a:p>
        </p:txBody>
      </p:sp>
      <p:sp>
        <p:nvSpPr>
          <p:cNvPr id="22" name="Text 20"/>
          <p:cNvSpPr/>
          <p:nvPr/>
        </p:nvSpPr>
        <p:spPr>
          <a:xfrm>
            <a:off x="812800" y="4724152"/>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66"/>
                </a:solidFill>
                <a:latin typeface="IBM Plex Sans" pitchFamily="34" charset="0"/>
                <a:ea typeface="IBM Plex Sans" pitchFamily="34" charset="-122"/>
                <a:cs typeface="IBM Plex Sans" pitchFamily="34" charset="-120"/>
              </a:rPr>
              <a:t>On top of that, gates run real end-to-end checks: </a:t>
            </a:r>
            <a:r>
              <a:rPr lang="en-US" sz="1400" dirty="0">
                <a:solidFill>
                  <a:srgbClr val="5B46C9"/>
                </a:solidFill>
                <a:latin typeface="IBM Plex Sans" pitchFamily="34" charset="0"/>
                <a:ea typeface="IBM Plex Sans" pitchFamily="34" charset="-122"/>
                <a:cs typeface="IBM Plex Sans" pitchFamily="34" charset="-120"/>
              </a:rPr>
              <a:t>make ready</a:t>
            </a:r>
            <a:r>
              <a:rPr lang="en-US" sz="1400" dirty="0">
                <a:solidFill>
                  <a:srgbClr val="4A4766"/>
                </a:solidFill>
                <a:latin typeface="IBM Plex Sans" pitchFamily="34" charset="0"/>
                <a:ea typeface="IBM Plex Sans" pitchFamily="34" charset="-122"/>
                <a:cs typeface="IBM Plex Sans" pitchFamily="34" charset="-120"/>
              </a:rPr>
              <a:t> and </a:t>
            </a:r>
            <a:r>
              <a:rPr lang="en-US" sz="1400" dirty="0">
                <a:solidFill>
                  <a:srgbClr val="5B46C9"/>
                </a:solidFill>
                <a:latin typeface="IBM Plex Sans" pitchFamily="34" charset="0"/>
                <a:ea typeface="IBM Plex Sans" pitchFamily="34" charset="-122"/>
                <a:cs typeface="IBM Plex Sans" pitchFamily="34" charset="-120"/>
              </a:rPr>
              <a:t>make e2e</a:t>
            </a:r>
            <a:r>
              <a:rPr lang="en-US" sz="1400" dirty="0">
                <a:solidFill>
                  <a:srgbClr val="4A4766"/>
                </a:solidFill>
                <a:latin typeface="IBM Plex Sans" pitchFamily="34" charset="0"/>
                <a:ea typeface="IBM Plex Sans" pitchFamily="34" charset="-122"/>
                <a:cs typeface="IBM Plex Sans" pitchFamily="34" charset="-120"/>
              </a:rPr>
              <a:t>, in a 12-minute budget.</a:t>
            </a:r>
            <a:endParaRPr lang="en-US" sz="14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Spec coding with Cursor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07 · TAKE NOTHING FOR GRANTED</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If it is clickable, it has a test</a:t>
            </a:r>
            <a:endParaRPr lang="en-US" sz="3600" dirty="0"/>
          </a:p>
        </p:txBody>
      </p:sp>
      <p:sp>
        <p:nvSpPr>
          <p:cNvPr id="4" name="Text 2"/>
          <p:cNvSpPr/>
          <p:nvPr/>
        </p:nvSpPr>
        <p:spPr>
          <a:xfrm>
            <a:off x="812800" y="2037011"/>
            <a:ext cx="6604000" cy="3291483"/>
          </a:xfrm>
          <a:prstGeom prst="roundRect">
            <a:avLst>
              <a:gd name="adj" fmla="val 3858"/>
            </a:avLst>
          </a:prstGeom>
          <a:solidFill>
            <a:srgbClr val="17133A"/>
          </a:solidFill>
          <a:ln/>
        </p:spPr>
        <p:txBody>
          <a:bodyPr wrap="square" lIns="216803" tIns="191403" rIns="33923" bIns="166003" rtlCol="0" anchor="t">
            <a:normAutofit/>
          </a:bodyPr>
          <a:lstStyle/>
          <a:p>
            <a:pPr algn="l" indent="0" marL="0">
              <a:lnSpc>
                <a:spcPts val="1860"/>
              </a:lnSpc>
              <a:buNone/>
            </a:pPr>
            <a:r>
              <a:rPr lang="en-US" sz="1200" dirty="0">
                <a:solidFill>
                  <a:srgbClr val="F4A83A"/>
                </a:solidFill>
                <a:latin typeface="JetBrains Mono" pitchFamily="49" charset="0"/>
                <a:ea typeface="JetBrains Mono" pitchFamily="49" charset="-122"/>
                <a:cs typeface="JetBrains Mono" pitchFamily="49" charset="-120"/>
              </a:rPr>
              <a:t>.cursor/rules/45-ui-clicks.mdc</a:t>
            </a:r>
            <a:endParaRPr lang="en-US" sz="1200" dirty="0"/>
          </a:p>
          <a:p>
            <a:pPr algn="l" indent="0" marL="0">
              <a:lnSpc>
                <a:spcPts val="1860"/>
              </a:lnSpc>
              <a:buNone/>
            </a:pPr>
            <a:r>
              <a:rPr lang="en-US" sz="1200" dirty="0">
                <a:solidFill>
                  <a:srgbClr val="E9E6FA"/>
                </a:solidFill>
                <a:latin typeface="JetBrains Mono" pitchFamily="49" charset="0"/>
                <a:ea typeface="JetBrains Mono" pitchFamily="49" charset="-122"/>
                <a:cs typeface="JetBrains Mono" pitchFamily="49" charset="-120"/>
              </a:rPr>
              <a:t>---</a:t>
            </a:r>
            <a:endParaRPr lang="en-US" sz="1200" dirty="0"/>
          </a:p>
          <a:p>
            <a:pPr algn="l" indent="0" marL="0">
              <a:lnSpc>
                <a:spcPts val="1860"/>
              </a:lnSpc>
              <a:buNone/>
            </a:pPr>
            <a:r>
              <a:rPr lang="en-US" sz="1200" dirty="0">
                <a:solidFill>
                  <a:srgbClr val="E9E6FA"/>
                </a:solidFill>
                <a:latin typeface="JetBrains Mono" pitchFamily="49" charset="0"/>
                <a:ea typeface="JetBrains Mono" pitchFamily="49" charset="-122"/>
                <a:cs typeface="JetBrains Mono" pitchFamily="49" charset="-120"/>
              </a:rPr>
              <a:t>description: "Every click is a test case"</a:t>
            </a:r>
            <a:endParaRPr lang="en-US" sz="1200" dirty="0"/>
          </a:p>
          <a:p>
            <a:pPr algn="l" indent="0" marL="0">
              <a:lnSpc>
                <a:spcPts val="1860"/>
              </a:lnSpc>
              <a:buNone/>
            </a:pPr>
            <a:r>
              <a:rPr lang="en-US" sz="1200" dirty="0">
                <a:solidFill>
                  <a:srgbClr val="E9E6FA"/>
                </a:solidFill>
                <a:latin typeface="JetBrains Mono" pitchFamily="49" charset="0"/>
                <a:ea typeface="JetBrains Mono" pitchFamily="49" charset="-122"/>
                <a:cs typeface="JetBrains Mono" pitchFamily="49" charset="-120"/>
              </a:rPr>
              <a:t>globs: "apps/web/**/*.tsx"</a:t>
            </a:r>
            <a:endParaRPr lang="en-US" sz="1200" dirty="0"/>
          </a:p>
          <a:p>
            <a:pPr algn="l" indent="0" marL="0">
              <a:lnSpc>
                <a:spcPts val="1860"/>
              </a:lnSpc>
              <a:buNone/>
            </a:pPr>
            <a:r>
              <a:rPr lang="en-US" sz="1200" dirty="0">
                <a:solidFill>
                  <a:srgbClr val="E9E6FA"/>
                </a:solidFill>
                <a:latin typeface="JetBrains Mono" pitchFamily="49" charset="0"/>
                <a:ea typeface="JetBrains Mono" pitchFamily="49" charset="-122"/>
                <a:cs typeface="JetBrains Mono" pitchFamily="49" charset="-120"/>
              </a:rPr>
              <a:t>---</a:t>
            </a:r>
            <a:endParaRPr lang="en-US" sz="1200" dirty="0"/>
          </a:p>
          <a:p>
            <a:pPr algn="l" indent="0" marL="0">
              <a:lnSpc>
                <a:spcPts val="1860"/>
              </a:lnSpc>
              <a:buNone/>
            </a:pPr>
            <a:r>
              <a:rPr lang="en-US" sz="1200" dirty="0">
                <a:solidFill>
                  <a:srgbClr val="E9E6FA"/>
                </a:solidFill>
                <a:latin typeface="JetBrains Mono" pitchFamily="49" charset="0"/>
                <a:ea typeface="JetBrains Mono" pitchFamily="49" charset="-122"/>
                <a:cs typeface="JetBrains Mono" pitchFamily="49" charset="-120"/>
              </a:rPr>
              <a:t>On every page, any element whose click opens</a:t>
            </a:r>
            <a:endParaRPr lang="en-US" sz="1200" dirty="0"/>
          </a:p>
          <a:p>
            <a:pPr algn="l" indent="0" marL="0">
              <a:lnSpc>
                <a:spcPts val="1860"/>
              </a:lnSpc>
              <a:buNone/>
            </a:pPr>
            <a:r>
              <a:rPr lang="en-US" sz="1200" dirty="0">
                <a:solidFill>
                  <a:srgbClr val="E9E6FA"/>
                </a:solidFill>
                <a:latin typeface="JetBrains Mono" pitchFamily="49" charset="0"/>
                <a:ea typeface="JetBrains Mono" pitchFamily="49" charset="-122"/>
                <a:cs typeface="JetBrains Mono" pitchFamily="49" charset="-120"/>
              </a:rPr>
              <a:t>a popup, navigates or runs a function is a</a:t>
            </a:r>
            <a:endParaRPr lang="en-US" sz="1200" dirty="0"/>
          </a:p>
          <a:p>
            <a:pPr algn="l" indent="0" marL="0">
              <a:lnSpc>
                <a:spcPts val="1860"/>
              </a:lnSpc>
              <a:buNone/>
            </a:pPr>
            <a:r>
              <a:rPr lang="en-US" sz="1200" dirty="0">
                <a:solidFill>
                  <a:srgbClr val="E9E6FA"/>
                </a:solidFill>
                <a:latin typeface="JetBrains Mono" pitchFamily="49" charset="0"/>
                <a:ea typeface="JetBrains Mono" pitchFamily="49" charset="-122"/>
                <a:cs typeface="JetBrains Mono" pitchFamily="49" charset="-120"/>
              </a:rPr>
              <a:t>test-case requirement:</a:t>
            </a:r>
            <a:endParaRPr lang="en-US" sz="1200" dirty="0"/>
          </a:p>
          <a:p>
            <a:pPr algn="l" indent="0" marL="0">
              <a:lnSpc>
                <a:spcPts val="1860"/>
              </a:lnSpc>
              <a:buNone/>
            </a:pPr>
            <a:r>
              <a:rPr lang="en-US" sz="1200" dirty="0">
                <a:solidFill>
                  <a:srgbClr val="E9E6FA"/>
                </a:solidFill>
                <a:latin typeface="JetBrains Mono" pitchFamily="49" charset="0"/>
                <a:ea typeface="JetBrains Mono" pitchFamily="49" charset="-122"/>
                <a:cs typeface="JetBrains Mono" pitchFamily="49" charset="-120"/>
              </a:rPr>
              <a:t>1. One test per clickable: render, click,</a:t>
            </a:r>
            <a:endParaRPr lang="en-US" sz="1200" dirty="0"/>
          </a:p>
          <a:p>
            <a:pPr algn="l" indent="0" marL="0">
              <a:lnSpc>
                <a:spcPts val="1860"/>
              </a:lnSpc>
              <a:buNone/>
            </a:pPr>
            <a:r>
              <a:rPr lang="en-US" sz="1200" dirty="0">
                <a:solidFill>
                  <a:srgbClr val="E9E6FA"/>
                </a:solidFill>
                <a:latin typeface="JetBrains Mono" pitchFamily="49" charset="0"/>
                <a:ea typeface="JetBrains Mono" pitchFamily="49" charset="-122"/>
                <a:cs typeface="JetBrains Mono" pitchFamily="49" charset="-120"/>
              </a:rPr>
              <a:t>assert the visible result.</a:t>
            </a:r>
            <a:endParaRPr lang="en-US" sz="1200" dirty="0"/>
          </a:p>
          <a:p>
            <a:pPr algn="l" indent="0" marL="0">
              <a:lnSpc>
                <a:spcPts val="1860"/>
              </a:lnSpc>
              <a:buNone/>
            </a:pPr>
            <a:r>
              <a:rPr lang="en-US" sz="1200" dirty="0">
                <a:solidFill>
                  <a:srgbClr val="E9E6FA"/>
                </a:solidFill>
                <a:latin typeface="JetBrains Mono" pitchFamily="49" charset="0"/>
                <a:ea typeface="JetBrains Mono" pitchFamily="49" charset="-122"/>
                <a:cs typeface="JetBrains Mono" pitchFamily="49" charset="-120"/>
              </a:rPr>
              <a:t>2. A removed or broken handler fails a test.</a:t>
            </a:r>
            <a:endParaRPr lang="en-US" sz="1200" dirty="0"/>
          </a:p>
          <a:p>
            <a:pPr algn="l" indent="0" marL="0">
              <a:lnSpc>
                <a:spcPts val="1860"/>
              </a:lnSpc>
              <a:buNone/>
            </a:pPr>
            <a:r>
              <a:rPr lang="en-US" sz="1200" dirty="0">
                <a:solidFill>
                  <a:srgbClr val="E9E6FA"/>
                </a:solidFill>
                <a:latin typeface="JetBrains Mono" pitchFamily="49" charset="0"/>
                <a:ea typeface="JetBrains Mono" pitchFamily="49" charset="-122"/>
                <a:cs typeface="JetBrains Mono" pitchFamily="49" charset="-120"/>
              </a:rPr>
              <a:t>3. The PR lists every clickable and its test.</a:t>
            </a:r>
            <a:endParaRPr lang="en-US" sz="1200" dirty="0"/>
          </a:p>
        </p:txBody>
      </p:sp>
      <p:sp>
        <p:nvSpPr>
          <p:cNvPr id="5" name="Text 3"/>
          <p:cNvSpPr/>
          <p:nvPr/>
        </p:nvSpPr>
        <p:spPr>
          <a:xfrm>
            <a:off x="7670800" y="2037011"/>
            <a:ext cx="381965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1A45"/>
                </a:solidFill>
                <a:latin typeface="IBM Plex Sans" pitchFamily="34" charset="0"/>
                <a:ea typeface="IBM Plex Sans" pitchFamily="34" charset="-122"/>
                <a:cs typeface="IBM Plex Sans" pitchFamily="34" charset="-120"/>
              </a:rPr>
              <a:t>Agents leave handlers unwired, and later edits to a page quietly break them.</a:t>
            </a:r>
            <a:endParaRPr lang="en-US" sz="1500" dirty="0"/>
          </a:p>
        </p:txBody>
      </p:sp>
      <p:sp>
        <p:nvSpPr>
          <p:cNvPr id="6" name="Shape 4"/>
          <p:cNvSpPr/>
          <p:nvPr/>
        </p:nvSpPr>
        <p:spPr>
          <a:xfrm>
            <a:off x="7673975" y="2725986"/>
            <a:ext cx="3702050" cy="1088330"/>
          </a:xfrm>
          <a:prstGeom prst="roundRect">
            <a:avLst>
              <a:gd name="adj" fmla="val 9044"/>
            </a:avLst>
          </a:prstGeom>
          <a:solidFill>
            <a:srgbClr val="FDFCFF"/>
          </a:solidFill>
          <a:ln w="6350">
            <a:solidFill>
              <a:srgbClr val="E2DFF0"/>
            </a:solidFill>
            <a:prstDash val="solid"/>
          </a:ln>
        </p:spPr>
      </p:sp>
      <p:sp>
        <p:nvSpPr>
          <p:cNvPr id="7" name="Text 5"/>
          <p:cNvSpPr/>
          <p:nvPr/>
        </p:nvSpPr>
        <p:spPr>
          <a:xfrm>
            <a:off x="7880350" y="2906961"/>
            <a:ext cx="33879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JetBrains Mono" pitchFamily="49" charset="0"/>
                <a:ea typeface="JetBrains Mono" pitchFamily="49" charset="-122"/>
                <a:cs typeface="JetBrains Mono" pitchFamily="49" charset="-120"/>
              </a:rPr>
              <a:t>Q-45 · AC-1</a:t>
            </a:r>
            <a:endParaRPr lang="en-US" sz="1200" dirty="0"/>
          </a:p>
        </p:txBody>
      </p:sp>
      <p:sp>
        <p:nvSpPr>
          <p:cNvPr id="8" name="Text 6"/>
          <p:cNvSpPr/>
          <p:nvPr/>
        </p:nvSpPr>
        <p:spPr>
          <a:xfrm>
            <a:off x="7880350" y="3171081"/>
            <a:ext cx="338797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1A45"/>
                </a:solidFill>
                <a:latin typeface="IBM Plex Sans" pitchFamily="34" charset="0"/>
                <a:ea typeface="IBM Plex Sans" pitchFamily="34" charset="-122"/>
                <a:cs typeface="IBM Plex Sans" pitchFamily="34" charset="-120"/>
              </a:rPr>
              <a:t>“…clicking it navigates to the drill route for that topic”</a:t>
            </a:r>
            <a:endParaRPr lang="en-US" sz="1300" dirty="0"/>
          </a:p>
        </p:txBody>
      </p:sp>
      <p:sp>
        <p:nvSpPr>
          <p:cNvPr id="9" name="Text 7"/>
          <p:cNvSpPr/>
          <p:nvPr/>
        </p:nvSpPr>
        <p:spPr>
          <a:xfrm>
            <a:off x="7670800" y="3969891"/>
            <a:ext cx="381965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6"/>
                </a:solidFill>
                <a:latin typeface="IBM Plex Sans" pitchFamily="34" charset="0"/>
                <a:ea typeface="IBM Plex Sans" pitchFamily="34" charset="-122"/>
                <a:cs typeface="IBM Plex Sans" pitchFamily="34" charset="-120"/>
              </a:rPr>
              <a:t>The test outlives the ticket, so the next change cannot break the click silently.</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HumanifyOS-UI/.cursor/rules/45-ui-clicks.mdc · Spec coding with Cursor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08 · AUTOMATION</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If a person has to do it by hand, it is a ticket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11"/>
          <a:ext cx="10553700" cy="2874566"/>
        </p:xfrm>
        <a:graphic>
          <a:graphicData uri="http://schemas.openxmlformats.org/drawingml/2006/table">
            <a:tbl>
              <a:tblPr/>
              <a:tblGrid>
                <a:gridCol w="3799332"/>
                <a:gridCol w="6754368"/>
              </a:tblGrid>
              <a:tr h="359321">
                <a:tc>
                  <a:txBody>
                    <a:bodyPr/>
                    <a:lstStyle/>
                    <a:p>
                      <a:pPr indent="0" marL="0">
                        <a:lnSpc>
                          <a:spcPts val="1820"/>
                        </a:lnSpc>
                        <a:buNone/>
                      </a:pPr>
                      <a:r>
                        <a:rPr lang="en-US" sz="1300" b="1" dirty="0">
                          <a:solidFill>
                            <a:srgbClr val="1E1A45"/>
                          </a:solidFill>
                          <a:latin typeface="IBM Plex Sans" pitchFamily="34" charset="0"/>
                          <a:ea typeface="IBM Plex Sans" pitchFamily="34" charset="-122"/>
                          <a:cs typeface="IBM Plex Sans" pitchFamily="34" charset="-120"/>
                        </a:rPr>
                        <a:t>Command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8"/>
                      </a:solidFill>
                      <a:prstDash val="solid"/>
                      <a:round/>
                      <a:headEnd type="none" w="med" len="med"/>
                      <a:tailEnd type="none" w="med" len="med"/>
                    </a:lnL>
                    <a:lnR w="12700" cap="flat" cmpd="sng" algn="ctr">
                      <a:solidFill>
                        <a:srgbClr val="B6B5B9"/>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5B9"/>
                      </a:solidFill>
                      <a:prstDash val="solid"/>
                      <a:round/>
                      <a:headEnd type="none" w="med" len="med"/>
                      <a:tailEnd type="none" w="med" len="med"/>
                    </a:lnB>
                    <a:solidFill>
                      <a:srgbClr val="E4E3E8"/>
                    </a:solidFill>
                  </a:tcPr>
                </a:tc>
                <a:tc>
                  <a:txBody>
                    <a:bodyPr/>
                    <a:lstStyle/>
                    <a:p>
                      <a:pPr indent="0" marL="0">
                        <a:lnSpc>
                          <a:spcPts val="1820"/>
                        </a:lnSpc>
                        <a:buNone/>
                      </a:pPr>
                      <a:r>
                        <a:rPr lang="en-US" sz="1300" b="1" dirty="0">
                          <a:solidFill>
                            <a:srgbClr val="1E1A45"/>
                          </a:solidFill>
                          <a:latin typeface="IBM Plex Sans" pitchFamily="34" charset="0"/>
                          <a:ea typeface="IBM Plex Sans" pitchFamily="34" charset="-122"/>
                          <a:cs typeface="IBM Plex Sans" pitchFamily="34" charset="-120"/>
                        </a:rPr>
                        <a:t>What it replaces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9"/>
                      </a:solidFill>
                      <a:prstDash val="solid"/>
                      <a:round/>
                      <a:headEnd type="none" w="med" len="med"/>
                      <a:tailEnd type="none" w="med" len="med"/>
                    </a:lnL>
                    <a:lnR w="12700" cap="flat" cmpd="sng" algn="ctr">
                      <a:solidFill>
                        <a:srgbClr val="B6B5B9"/>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6B5B9"/>
                      </a:solidFill>
                      <a:prstDash val="solid"/>
                      <a:round/>
                      <a:headEnd type="none" w="med" len="med"/>
                      <a:tailEnd type="none" w="med" len="med"/>
                    </a:lnB>
                    <a:solidFill>
                      <a:srgbClr val="E4E3E8"/>
                    </a:solidFill>
                  </a:tcPr>
                </a:tc>
              </a:tr>
              <a:tr h="359321">
                <a:tc>
                  <a:txBody>
                    <a:bodyPr/>
                    <a:lstStyle/>
                    <a:p>
                      <a:pPr indent="0" marL="0">
                        <a:lnSpc>
                          <a:spcPts val="1820"/>
                        </a:lnSpc>
                        <a:buNone/>
                      </a:pPr>
                      <a:r>
                        <a:rPr lang="en-US" sz="1300" dirty="0">
                          <a:solidFill>
                            <a:srgbClr val="5B46C9"/>
                          </a:solidFill>
                          <a:latin typeface="IBM Plex Sans" pitchFamily="34" charset="0"/>
                          <a:ea typeface="IBM Plex Sans" pitchFamily="34" charset="-122"/>
                          <a:cs typeface="IBM Plex Sans" pitchFamily="34" charset="-120"/>
                        </a:rPr>
                        <a:t>make infra-up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6B5B9"/>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820"/>
                        </a:lnSpc>
                        <a:buNone/>
                      </a:pPr>
                      <a:r>
                        <a:rPr lang="en-US" sz="1300" dirty="0">
                          <a:solidFill>
                            <a:srgbClr val="1E1A45"/>
                          </a:solidFill>
                          <a:latin typeface="IBM Plex Sans" pitchFamily="34" charset="0"/>
                          <a:ea typeface="IBM Plex Sans" pitchFamily="34" charset="-122"/>
                          <a:cs typeface="IBM Plex Sans" pitchFamily="34" charset="-120"/>
                        </a:rPr>
                        <a:t>Start stores, Dapr, migrations, seed and readiness in one target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6B5B9"/>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5B46C9"/>
                          </a:solidFill>
                          <a:latin typeface="IBM Plex Sans" pitchFamily="34" charset="0"/>
                          <a:ea typeface="IBM Plex Sans" pitchFamily="34" charset="-122"/>
                          <a:cs typeface="IBM Plex Sans" pitchFamily="34" charset="-120"/>
                        </a:rPr>
                        <a:t>scripts/hos-ready.sh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8"/>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820"/>
                        </a:lnSpc>
                        <a:buNone/>
                      </a:pPr>
                      <a:r>
                        <a:rPr lang="en-US" sz="1300" dirty="0">
                          <a:solidFill>
                            <a:srgbClr val="1E1A45"/>
                          </a:solidFill>
                          <a:latin typeface="IBM Plex Sans" pitchFamily="34" charset="0"/>
                          <a:ea typeface="IBM Plex Sans" pitchFamily="34" charset="-122"/>
                          <a:cs typeface="IBM Plex Sans" pitchFamily="34" charset="-120"/>
                        </a:rPr>
                        <a:t>A person reading twelve logs; writes one ready.json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r>
              <a:tr h="359321">
                <a:tc>
                  <a:txBody>
                    <a:bodyPr/>
                    <a:lstStyle/>
                    <a:p>
                      <a:pPr indent="0" marL="0">
                        <a:lnSpc>
                          <a:spcPts val="1820"/>
                        </a:lnSpc>
                        <a:buNone/>
                      </a:pPr>
                      <a:r>
                        <a:rPr lang="en-US" sz="1300" dirty="0">
                          <a:solidFill>
                            <a:srgbClr val="5B46C9"/>
                          </a:solidFill>
                          <a:latin typeface="IBM Plex Sans" pitchFamily="34" charset="0"/>
                          <a:ea typeface="IBM Plex Sans" pitchFamily="34" charset="-122"/>
                          <a:cs typeface="IBM Plex Sans" pitchFamily="34" charset="-120"/>
                        </a:rPr>
                        <a:t>seed-org.sh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820"/>
                        </a:lnSpc>
                        <a:buNone/>
                      </a:pPr>
                      <a:r>
                        <a:rPr lang="en-US" sz="1300" dirty="0">
                          <a:solidFill>
                            <a:srgbClr val="1E1A45"/>
                          </a:solidFill>
                          <a:latin typeface="IBM Plex Sans" pitchFamily="34" charset="0"/>
                          <a:ea typeface="IBM Plex Sans" pitchFamily="34" charset="-122"/>
                          <a:cs typeface="IBM Plex Sans" pitchFamily="34" charset="-120"/>
                        </a:rPr>
                        <a:t>Hand-built test tenants, programs and LOBs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5B46C9"/>
                          </a:solidFill>
                          <a:latin typeface="IBM Plex Sans" pitchFamily="34" charset="0"/>
                          <a:ea typeface="IBM Plex Sans" pitchFamily="34" charset="-122"/>
                          <a:cs typeface="IBM Plex Sans" pitchFamily="34" charset="-120"/>
                        </a:rPr>
                        <a:t>hos-token mint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8"/>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820"/>
                        </a:lnSpc>
                        <a:buNone/>
                      </a:pPr>
                      <a:r>
                        <a:rPr lang="en-US" sz="1300" dirty="0">
                          <a:solidFill>
                            <a:srgbClr val="1E1A45"/>
                          </a:solidFill>
                          <a:latin typeface="IBM Plex Sans" pitchFamily="34" charset="0"/>
                          <a:ea typeface="IBM Plex Sans" pitchFamily="34" charset="-122"/>
                          <a:cs typeface="IBM Plex Sans" pitchFamily="34" charset="-120"/>
                        </a:rPr>
                        <a:t>Hand-made JWTs for tests and agents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r>
              <a:tr h="359321">
                <a:tc>
                  <a:txBody>
                    <a:bodyPr/>
                    <a:lstStyle/>
                    <a:p>
                      <a:pPr indent="0" marL="0">
                        <a:lnSpc>
                          <a:spcPts val="1820"/>
                        </a:lnSpc>
                        <a:buNone/>
                      </a:pPr>
                      <a:r>
                        <a:rPr lang="en-US" sz="1300" dirty="0">
                          <a:solidFill>
                            <a:srgbClr val="5B46C9"/>
                          </a:solidFill>
                          <a:latin typeface="IBM Plex Sans" pitchFamily="34" charset="0"/>
                          <a:ea typeface="IBM Plex Sans" pitchFamily="34" charset="-122"/>
                          <a:cs typeface="IBM Plex Sans" pitchFamily="34" charset="-120"/>
                        </a:rPr>
                        <a:t>bootstrap.sh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820"/>
                        </a:lnSpc>
                        <a:buNone/>
                      </a:pPr>
                      <a:r>
                        <a:rPr lang="en-US" sz="1300" dirty="0">
                          <a:solidFill>
                            <a:srgbClr val="1E1A45"/>
                          </a:solidFill>
                          <a:latin typeface="IBM Plex Sans" pitchFamily="34" charset="0"/>
                          <a:ea typeface="IBM Plex Sans" pitchFamily="34" charset="-122"/>
                          <a:cs typeface="IBM Plex Sans" pitchFamily="34" charset="-120"/>
                        </a:rPr>
                        <a:t>Copying rules and contracts into each repo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5B46C9"/>
                          </a:solidFill>
                          <a:latin typeface="IBM Plex Sans" pitchFamily="34" charset="0"/>
                          <a:ea typeface="IBM Plex Sans" pitchFamily="34" charset="-122"/>
                          <a:cs typeface="IBM Plex Sans" pitchFamily="34" charset="-120"/>
                        </a:rPr>
                        <a:t>regen_all.sh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8"/>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c>
                  <a:txBody>
                    <a:bodyPr/>
                    <a:lstStyle/>
                    <a:p>
                      <a:pPr indent="0" marL="0">
                        <a:lnSpc>
                          <a:spcPts val="1820"/>
                        </a:lnSpc>
                        <a:buNone/>
                      </a:pPr>
                      <a:r>
                        <a:rPr lang="en-US" sz="1300" dirty="0">
                          <a:solidFill>
                            <a:srgbClr val="1E1A45"/>
                          </a:solidFill>
                          <a:latin typeface="IBM Plex Sans" pitchFamily="34" charset="0"/>
                          <a:ea typeface="IBM Plex Sans" pitchFamily="34" charset="-122"/>
                          <a:cs typeface="IBM Plex Sans" pitchFamily="34" charset="-120"/>
                        </a:rPr>
                        <a:t>Editing tickets, Jira files and plans by hand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BCC5"/>
                      </a:solidFill>
                      <a:prstDash val="solid"/>
                      <a:round/>
                      <a:headEnd type="none" w="med" len="med"/>
                      <a:tailEnd type="none" w="med" len="med"/>
                    </a:lnL>
                    <a:lnR w="12700" cap="flat" cmpd="sng" algn="ctr">
                      <a:solidFill>
                        <a:srgbClr val="BDBCC5"/>
                      </a:solidFill>
                      <a:prstDash val="solid"/>
                      <a:round/>
                      <a:headEnd type="none" w="med" len="med"/>
                      <a:tailEnd type="none" w="med" len="med"/>
                    </a:lnR>
                    <a:lnT w="12700" cap="flat" cmpd="sng" algn="ctr">
                      <a:solidFill>
                        <a:srgbClr val="C4C4C8"/>
                      </a:solidFill>
                      <a:prstDash val="solid"/>
                      <a:round/>
                      <a:headEnd type="none" w="med" len="med"/>
                      <a:tailEnd type="none" w="med" len="med"/>
                    </a:lnT>
                    <a:lnB w="12700" cap="flat" cmpd="sng" algn="ctr">
                      <a:solidFill>
                        <a:srgbClr val="BDBCC5"/>
                      </a:solidFill>
                      <a:prstDash val="solid"/>
                      <a:round/>
                      <a:headEnd type="none" w="med" len="med"/>
                      <a:tailEnd type="none" w="med" len="med"/>
                    </a:lnB>
                    <a:solidFill>
                      <a:srgbClr val="EDEBF7"/>
                    </a:solidFill>
                  </a:tcPr>
                </a:tc>
              </a:tr>
              <a:tr h="359321">
                <a:tc>
                  <a:txBody>
                    <a:bodyPr/>
                    <a:lstStyle/>
                    <a:p>
                      <a:pPr indent="0" marL="0">
                        <a:lnSpc>
                          <a:spcPts val="1820"/>
                        </a:lnSpc>
                        <a:buNone/>
                      </a:pPr>
                      <a:r>
                        <a:rPr lang="en-US" sz="1300" dirty="0">
                          <a:solidFill>
                            <a:srgbClr val="5B46C9"/>
                          </a:solidFill>
                          <a:latin typeface="IBM Plex Sans" pitchFamily="34" charset="0"/>
                          <a:ea typeface="IBM Plex Sans" pitchFamily="34" charset="-122"/>
                          <a:cs typeface="IBM Plex Sans" pitchFamily="34" charset="-120"/>
                        </a:rPr>
                        <a:t>Terraform / compose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c>
                  <a:txBody>
                    <a:bodyPr/>
                    <a:lstStyle/>
                    <a:p>
                      <a:pPr indent="0" marL="0">
                        <a:lnSpc>
                          <a:spcPts val="1820"/>
                        </a:lnSpc>
                        <a:buNone/>
                      </a:pPr>
                      <a:r>
                        <a:rPr lang="en-US" sz="1300" dirty="0">
                          <a:solidFill>
                            <a:srgbClr val="1E1A45"/>
                          </a:solidFill>
                          <a:latin typeface="IBM Plex Sans" pitchFamily="34" charset="0"/>
                          <a:ea typeface="IBM Plex Sans" pitchFamily="34" charset="-122"/>
                          <a:cs typeface="IBM Plex Sans" pitchFamily="34" charset="-120"/>
                        </a:rPr>
                        <a:t>Console clicks; the same install runs in CI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8"/>
                      </a:solidFill>
                      <a:prstDash val="solid"/>
                      <a:round/>
                      <a:headEnd type="none" w="med" len="med"/>
                      <a:tailEnd type="none" w="med" len="med"/>
                    </a:lnL>
                    <a:lnR w="12700" cap="flat" cmpd="sng" algn="ctr">
                      <a:solidFill>
                        <a:srgbClr val="C4C4C8"/>
                      </a:solidFill>
                      <a:prstDash val="solid"/>
                      <a:round/>
                      <a:headEnd type="none" w="med" len="med"/>
                      <a:tailEnd type="none" w="med" len="med"/>
                    </a:lnR>
                    <a:lnT w="12700" cap="flat" cmpd="sng" algn="ctr">
                      <a:solidFill>
                        <a:srgbClr val="BDBCC5"/>
                      </a:solidFill>
                      <a:prstDash val="solid"/>
                      <a:round/>
                      <a:headEnd type="none" w="med" len="med"/>
                      <a:tailEnd type="none" w="med" len="med"/>
                    </a:lnT>
                    <a:lnB w="12700" cap="flat" cmpd="sng" algn="ctr">
                      <a:solidFill>
                        <a:srgbClr val="C4C4C8"/>
                      </a:solidFill>
                      <a:prstDash val="solid"/>
                      <a:round/>
                      <a:headEnd type="none" w="med" len="med"/>
                      <a:tailEnd type="none" w="med" len="med"/>
                    </a:lnB>
                  </a:tcPr>
                </a:tc>
              </a:tr>
            </a:tbl>
          </a:graphicData>
        </a:graphic>
      </p:graphicFrame>
      <p:sp>
        <p:nvSpPr>
          <p:cNvPr id="5" name="Text 2"/>
          <p:cNvSpPr/>
          <p:nvPr/>
        </p:nvSpPr>
        <p:spPr>
          <a:xfrm>
            <a:off x="812800" y="5178276"/>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66"/>
                </a:solidFill>
                <a:latin typeface="IBM Plex Sans" pitchFamily="34" charset="0"/>
                <a:ea typeface="IBM Plex Sans" pitchFamily="34" charset="-122"/>
                <a:cs typeface="IBM Plex Sans" pitchFamily="34" charset="-120"/>
              </a:rPr>
              <a:t>The goal is 100% automation: an agent at 3 a.m. can stand up, prove and reset the stack alone.</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Spec coding with Cursor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46C9"/>
                </a:solidFill>
                <a:latin typeface="JetBrains Mono" pitchFamily="49" charset="0"/>
                <a:ea typeface="JetBrains Mono" pitchFamily="49" charset="-122"/>
                <a:cs typeface="JetBrains Mono" pitchFamily="49" charset="-120"/>
              </a:rPr>
              <a:t>09 · DOCUMENTATION</a:t>
            </a:r>
            <a:endParaRPr lang="en-US" sz="1200" dirty="0"/>
          </a:p>
        </p:txBody>
      </p:sp>
      <p:sp>
        <p:nvSpPr>
          <p:cNvPr id="3" name="Text 1"/>
          <p:cNvSpPr/>
          <p:nvPr>
            <p:ph type="title"/>
          </p:nvPr>
        </p:nvSpPr>
        <p:spPr>
          <a:xfrm>
            <a:off x="812800" y="125472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45"/>
                </a:solidFill>
                <a:latin typeface="IBM Plex Sans" pitchFamily="34" charset="0"/>
                <a:ea typeface="IBM Plex Sans" pitchFamily="34" charset="-122"/>
                <a:cs typeface="IBM Plex Sans" pitchFamily="34" charset="-120"/>
              </a:rPr>
              <a:t>Docs ship in the same PR, or the ticket is not done</a:t>
            </a:r>
            <a:endParaRPr lang="en-US" sz="3600" dirty="0"/>
          </a:p>
        </p:txBody>
      </p:sp>
      <p:sp>
        <p:nvSpPr>
          <p:cNvPr id="4" name="Shape 2"/>
          <p:cNvSpPr/>
          <p:nvPr/>
        </p:nvSpPr>
        <p:spPr>
          <a:xfrm>
            <a:off x="815975" y="1989386"/>
            <a:ext cx="2520950" cy="1372741"/>
          </a:xfrm>
          <a:prstGeom prst="roundRect">
            <a:avLst>
              <a:gd name="adj" fmla="val 7170"/>
            </a:avLst>
          </a:prstGeom>
          <a:solidFill>
            <a:srgbClr val="FDFCFF"/>
          </a:solidFill>
          <a:ln w="6350">
            <a:solidFill>
              <a:srgbClr val="E2DFF0"/>
            </a:solidFill>
            <a:prstDash val="solid"/>
          </a:ln>
        </p:spPr>
      </p:sp>
      <p:sp>
        <p:nvSpPr>
          <p:cNvPr id="5" name="Text 3"/>
          <p:cNvSpPr/>
          <p:nvPr/>
        </p:nvSpPr>
        <p:spPr>
          <a:xfrm>
            <a:off x="1022350" y="2170361"/>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6C9"/>
                </a:solidFill>
                <a:latin typeface="JetBrains Mono" pitchFamily="49" charset="0"/>
                <a:ea typeface="JetBrains Mono" pitchFamily="49" charset="-122"/>
                <a:cs typeface="JetBrains Mono" pitchFamily="49" charset="-120"/>
              </a:rPr>
              <a:t>docs/technical/</a:t>
            </a:r>
            <a:endParaRPr lang="en-US" sz="1200" dirty="0"/>
          </a:p>
        </p:txBody>
      </p:sp>
      <p:sp>
        <p:nvSpPr>
          <p:cNvPr id="6" name="Text 4"/>
          <p:cNvSpPr/>
          <p:nvPr/>
        </p:nvSpPr>
        <p:spPr>
          <a:xfrm>
            <a:off x="1022350" y="244718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A45"/>
                </a:solidFill>
                <a:latin typeface="IBM Plex Sans" pitchFamily="34" charset="0"/>
                <a:ea typeface="IBM Plex Sans" pitchFamily="34" charset="-122"/>
                <a:cs typeface="IBM Plex Sans" pitchFamily="34" charset="-120"/>
              </a:rPr>
              <a:t>Technical</a:t>
            </a:r>
            <a:endParaRPr lang="en-US" sz="1600" dirty="0"/>
          </a:p>
        </p:txBody>
      </p:sp>
      <p:sp>
        <p:nvSpPr>
          <p:cNvPr id="7" name="Text 5"/>
          <p:cNvSpPr/>
          <p:nvPr/>
        </p:nvSpPr>
        <p:spPr>
          <a:xfrm>
            <a:off x="1022350" y="275451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Architecture per module, generated flag tables</a:t>
            </a:r>
            <a:endParaRPr lang="en-US" sz="1200" dirty="0"/>
          </a:p>
        </p:txBody>
      </p:sp>
      <p:sp>
        <p:nvSpPr>
          <p:cNvPr id="8" name="Shape 6"/>
          <p:cNvSpPr/>
          <p:nvPr/>
        </p:nvSpPr>
        <p:spPr>
          <a:xfrm>
            <a:off x="3495675" y="1989386"/>
            <a:ext cx="2520950" cy="1372741"/>
          </a:xfrm>
          <a:prstGeom prst="roundRect">
            <a:avLst>
              <a:gd name="adj" fmla="val 7170"/>
            </a:avLst>
          </a:prstGeom>
          <a:solidFill>
            <a:srgbClr val="FDFCFF"/>
          </a:solidFill>
          <a:ln w="6350">
            <a:solidFill>
              <a:srgbClr val="E2DFF0"/>
            </a:solidFill>
            <a:prstDash val="solid"/>
          </a:ln>
        </p:spPr>
      </p:sp>
      <p:sp>
        <p:nvSpPr>
          <p:cNvPr id="9" name="Text 7"/>
          <p:cNvSpPr/>
          <p:nvPr/>
        </p:nvSpPr>
        <p:spPr>
          <a:xfrm>
            <a:off x="3702050" y="2170361"/>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6C9"/>
                </a:solidFill>
                <a:latin typeface="JetBrains Mono" pitchFamily="49" charset="0"/>
                <a:ea typeface="JetBrains Mono" pitchFamily="49" charset="-122"/>
                <a:cs typeface="JetBrains Mono" pitchFamily="49" charset="-120"/>
              </a:rPr>
              <a:t>docs/user/</a:t>
            </a:r>
            <a:endParaRPr lang="en-US" sz="1200" dirty="0"/>
          </a:p>
        </p:txBody>
      </p:sp>
      <p:sp>
        <p:nvSpPr>
          <p:cNvPr id="10" name="Text 8"/>
          <p:cNvSpPr/>
          <p:nvPr/>
        </p:nvSpPr>
        <p:spPr>
          <a:xfrm>
            <a:off x="3702050" y="244718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A45"/>
                </a:solidFill>
                <a:latin typeface="IBM Plex Sans" pitchFamily="34" charset="0"/>
                <a:ea typeface="IBM Plex Sans" pitchFamily="34" charset="-122"/>
                <a:cs typeface="IBM Plex Sans" pitchFamily="34" charset="-120"/>
              </a:rPr>
              <a:t>User</a:t>
            </a:r>
            <a:endParaRPr lang="en-US" sz="1600" dirty="0"/>
          </a:p>
        </p:txBody>
      </p:sp>
      <p:sp>
        <p:nvSpPr>
          <p:cNvPr id="11" name="Text 9"/>
          <p:cNvSpPr/>
          <p:nvPr/>
        </p:nvSpPr>
        <p:spPr>
          <a:xfrm>
            <a:off x="3702050" y="2754511"/>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Screens and how-tos per app</a:t>
            </a:r>
            <a:endParaRPr lang="en-US" sz="1200" dirty="0"/>
          </a:p>
        </p:txBody>
      </p:sp>
      <p:sp>
        <p:nvSpPr>
          <p:cNvPr id="12" name="Shape 10"/>
          <p:cNvSpPr/>
          <p:nvPr/>
        </p:nvSpPr>
        <p:spPr>
          <a:xfrm>
            <a:off x="6175375" y="1989386"/>
            <a:ext cx="2520950" cy="1372741"/>
          </a:xfrm>
          <a:prstGeom prst="roundRect">
            <a:avLst>
              <a:gd name="adj" fmla="val 7170"/>
            </a:avLst>
          </a:prstGeom>
          <a:solidFill>
            <a:srgbClr val="FDFCFF"/>
          </a:solidFill>
          <a:ln w="6350">
            <a:solidFill>
              <a:srgbClr val="E2DFF0"/>
            </a:solidFill>
            <a:prstDash val="solid"/>
          </a:ln>
        </p:spPr>
      </p:sp>
      <p:sp>
        <p:nvSpPr>
          <p:cNvPr id="13" name="Text 11"/>
          <p:cNvSpPr/>
          <p:nvPr/>
        </p:nvSpPr>
        <p:spPr>
          <a:xfrm>
            <a:off x="6381750" y="2170361"/>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6C9"/>
                </a:solidFill>
                <a:latin typeface="JetBrains Mono" pitchFamily="49" charset="0"/>
                <a:ea typeface="JetBrains Mono" pitchFamily="49" charset="-122"/>
                <a:cs typeface="JetBrains Mono" pitchFamily="49" charset="-120"/>
              </a:rPr>
              <a:t>docs/runbooks/</a:t>
            </a:r>
            <a:endParaRPr lang="en-US" sz="1200" dirty="0"/>
          </a:p>
        </p:txBody>
      </p:sp>
      <p:sp>
        <p:nvSpPr>
          <p:cNvPr id="14" name="Text 12"/>
          <p:cNvSpPr/>
          <p:nvPr/>
        </p:nvSpPr>
        <p:spPr>
          <a:xfrm>
            <a:off x="6381750" y="244718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A45"/>
                </a:solidFill>
                <a:latin typeface="IBM Plex Sans" pitchFamily="34" charset="0"/>
                <a:ea typeface="IBM Plex Sans" pitchFamily="34" charset="-122"/>
                <a:cs typeface="IBM Plex Sans" pitchFamily="34" charset="-120"/>
              </a:rPr>
              <a:t>Operational</a:t>
            </a:r>
            <a:endParaRPr lang="en-US" sz="1600" dirty="0"/>
          </a:p>
        </p:txBody>
      </p:sp>
      <p:sp>
        <p:nvSpPr>
          <p:cNvPr id="15" name="Text 13"/>
          <p:cNvSpPr/>
          <p:nvPr/>
        </p:nvSpPr>
        <p:spPr>
          <a:xfrm>
            <a:off x="6381750" y="275451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Replays, restores, secret rotation</a:t>
            </a:r>
            <a:endParaRPr lang="en-US" sz="1200" dirty="0"/>
          </a:p>
        </p:txBody>
      </p:sp>
      <p:sp>
        <p:nvSpPr>
          <p:cNvPr id="16" name="Shape 14"/>
          <p:cNvSpPr/>
          <p:nvPr/>
        </p:nvSpPr>
        <p:spPr>
          <a:xfrm>
            <a:off x="8855075" y="1989386"/>
            <a:ext cx="2520950" cy="1372741"/>
          </a:xfrm>
          <a:prstGeom prst="roundRect">
            <a:avLst>
              <a:gd name="adj" fmla="val 7170"/>
            </a:avLst>
          </a:prstGeom>
          <a:solidFill>
            <a:srgbClr val="FDFCFF"/>
          </a:solidFill>
          <a:ln w="6350">
            <a:solidFill>
              <a:srgbClr val="E2DFF0"/>
            </a:solidFill>
            <a:prstDash val="solid"/>
          </a:ln>
        </p:spPr>
      </p:sp>
      <p:sp>
        <p:nvSpPr>
          <p:cNvPr id="17" name="Text 15"/>
          <p:cNvSpPr/>
          <p:nvPr/>
        </p:nvSpPr>
        <p:spPr>
          <a:xfrm>
            <a:off x="9061450" y="2170361"/>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6C9"/>
                </a:solidFill>
                <a:latin typeface="JetBrains Mono" pitchFamily="49" charset="0"/>
                <a:ea typeface="JetBrains Mono" pitchFamily="49" charset="-122"/>
                <a:cs typeface="JetBrains Mono" pitchFamily="49" charset="-120"/>
              </a:rPr>
              <a:t>docs/adr/</a:t>
            </a:r>
            <a:endParaRPr lang="en-US" sz="1200" dirty="0"/>
          </a:p>
        </p:txBody>
      </p:sp>
      <p:sp>
        <p:nvSpPr>
          <p:cNvPr id="18" name="Text 16"/>
          <p:cNvSpPr/>
          <p:nvPr/>
        </p:nvSpPr>
        <p:spPr>
          <a:xfrm>
            <a:off x="9061450" y="244718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A45"/>
                </a:solidFill>
                <a:latin typeface="IBM Plex Sans" pitchFamily="34" charset="0"/>
                <a:ea typeface="IBM Plex Sans" pitchFamily="34" charset="-122"/>
                <a:cs typeface="IBM Plex Sans" pitchFamily="34" charset="-120"/>
              </a:rPr>
              <a:t>Decisions</a:t>
            </a:r>
            <a:endParaRPr lang="en-US" sz="1600" dirty="0"/>
          </a:p>
        </p:txBody>
      </p:sp>
      <p:sp>
        <p:nvSpPr>
          <p:cNvPr id="19" name="Text 17"/>
          <p:cNvSpPr/>
          <p:nvPr/>
        </p:nvSpPr>
        <p:spPr>
          <a:xfrm>
            <a:off x="9061450" y="275451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6"/>
                </a:solidFill>
                <a:latin typeface="IBM Plex Sans" pitchFamily="34" charset="0"/>
                <a:ea typeface="IBM Plex Sans" pitchFamily="34" charset="-122"/>
                <a:cs typeface="IBM Plex Sans" pitchFamily="34" charset="-120"/>
              </a:rPr>
              <a:t>One record for every locked choice</a:t>
            </a:r>
            <a:endParaRPr lang="en-US" sz="1200" dirty="0"/>
          </a:p>
        </p:txBody>
      </p:sp>
      <p:sp>
        <p:nvSpPr>
          <p:cNvPr id="20" name="Shape 18"/>
          <p:cNvSpPr/>
          <p:nvPr/>
        </p:nvSpPr>
        <p:spPr>
          <a:xfrm>
            <a:off x="812800" y="3593902"/>
            <a:ext cx="10566400" cy="1500386"/>
          </a:xfrm>
          <a:prstGeom prst="roundRect">
            <a:avLst>
              <a:gd name="adj" fmla="val 8464"/>
            </a:avLst>
          </a:prstGeom>
          <a:solidFill>
            <a:srgbClr val="17133A"/>
          </a:solidFill>
          <a:ln/>
        </p:spPr>
      </p:sp>
      <p:sp>
        <p:nvSpPr>
          <p:cNvPr id="21" name="Text 19"/>
          <p:cNvSpPr/>
          <p:nvPr/>
        </p:nvSpPr>
        <p:spPr>
          <a:xfrm>
            <a:off x="1066800" y="3822502"/>
            <a:ext cx="1036015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A83A"/>
                </a:solidFill>
                <a:latin typeface="IBM Plex Sans" pitchFamily="34" charset="0"/>
                <a:ea typeface="IBM Plex Sans" pitchFamily="34" charset="-122"/>
                <a:cs typeface="IBM Plex Sans" pitchFamily="34" charset="-120"/>
              </a:rPr>
              <a:t>DOCS-IN-CODE: merge-blocking</a:t>
            </a:r>
            <a:endParaRPr lang="en-US" sz="1400" dirty="0"/>
          </a:p>
        </p:txBody>
      </p:sp>
      <p:sp>
        <p:nvSpPr>
          <p:cNvPr id="22" name="Text 20"/>
          <p:cNvSpPr/>
          <p:nvPr/>
        </p:nvSpPr>
        <p:spPr>
          <a:xfrm>
            <a:off x="1152144" y="4147592"/>
            <a:ext cx="10267188" cy="743496"/>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E9E6FA"/>
                </a:solidFill>
                <a:latin typeface="IBM Plex Sans" pitchFamily="34" charset="0"/>
                <a:ea typeface="IBM Plex Sans" pitchFamily="34" charset="-122"/>
                <a:cs typeface="IBM Plex Sans" pitchFamily="34" charset="-120"/>
              </a:rPr>
              <a:t>Every package has a comment naming its callers, calls and events</a:t>
            </a:r>
            <a:endParaRPr lang="en-US" sz="1300" dirty="0"/>
          </a:p>
          <a:p>
            <a:pPr algn="l" marL="168656" indent="-168656">
              <a:lnSpc>
                <a:spcPts val="1885"/>
              </a:lnSpc>
              <a:buSzPct val="100000"/>
              <a:buChar char="•"/>
            </a:pPr>
            <a:r>
              <a:rPr lang="en-US" sz="1300" dirty="0">
                <a:solidFill>
                  <a:srgbClr val="E9E6FA"/>
                </a:solidFill>
                <a:latin typeface="IBM Plex Sans" pitchFamily="34" charset="0"/>
                <a:ea typeface="IBM Plex Sans" pitchFamily="34" charset="-122"/>
                <a:cs typeface="IBM Plex Sans" pitchFamily="34" charset="-120"/>
              </a:rPr>
              <a:t>Every handler lists its route, scope, schemas and error codes</a:t>
            </a:r>
            <a:endParaRPr lang="en-US" sz="1300" dirty="0"/>
          </a:p>
          <a:p>
            <a:pPr algn="l" marL="168656" indent="-168656">
              <a:lnSpc>
                <a:spcPts val="1885"/>
              </a:lnSpc>
              <a:buSzPct val="100000"/>
              <a:buChar char="•"/>
            </a:pPr>
            <a:r>
              <a:rPr lang="en-US" sz="1300" dirty="0">
                <a:solidFill>
                  <a:srgbClr val="E9E6FA"/>
                </a:solidFill>
                <a:latin typeface="IBM Plex Sans" pitchFamily="34" charset="0"/>
                <a:ea typeface="IBM Plex Sans" pitchFamily="34" charset="-122"/>
                <a:cs typeface="IBM Plex Sans" pitchFamily="34" charset="-120"/>
              </a:rPr>
              <a:t>Every config key and flag is documented, or spec-lint fails the PR</a:t>
            </a:r>
            <a:endParaRPr lang="en-US" sz="13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C"/>
                </a:solidFill>
                <a:latin typeface="IBM Plex Sans" pitchFamily="34" charset="0"/>
                <a:ea typeface="IBM Plex Sans" pitchFamily="34" charset="-122"/>
                <a:cs typeface="IBM Plex Sans" pitchFamily="34" charset="-120"/>
              </a:rPr>
              <a:t>Spec coding with Cursor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133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4A83A"/>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4A83A"/>
                </a:solidFill>
                <a:latin typeface="JetBrains Mono" pitchFamily="49" charset="0"/>
                <a:ea typeface="JetBrains Mono" pitchFamily="49" charset="-122"/>
                <a:cs typeface="JetBrains Mono" pitchFamily="49" charset="-120"/>
              </a:rPr>
              <a:t>TAKEAWAYS</a:t>
            </a:r>
            <a:endParaRPr lang="en-US" sz="1200" dirty="0"/>
          </a:p>
        </p:txBody>
      </p:sp>
      <p:sp>
        <p:nvSpPr>
          <p:cNvPr id="4" name="Text 2"/>
          <p:cNvSpPr/>
          <p:nvPr>
            <p:ph type="title"/>
          </p:nvPr>
        </p:nvSpPr>
        <p:spPr>
          <a:xfrm>
            <a:off x="812800" y="133092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5FB"/>
                </a:solidFill>
                <a:latin typeface="IBM Plex Sans" pitchFamily="34" charset="0"/>
                <a:ea typeface="IBM Plex Sans" pitchFamily="34" charset="-122"/>
                <a:cs typeface="IBM Plex Sans" pitchFamily="34" charset="-120"/>
              </a:rPr>
              <a:t>Write the spec so well the agent never has to ask</a:t>
            </a:r>
            <a:endParaRPr lang="en-US" sz="3600" dirty="0"/>
          </a:p>
        </p:txBody>
      </p:sp>
      <p:sp>
        <p:nvSpPr>
          <p:cNvPr id="5" name="Text 3"/>
          <p:cNvSpPr/>
          <p:nvPr/>
        </p:nvSpPr>
        <p:spPr>
          <a:xfrm>
            <a:off x="812800" y="2138611"/>
            <a:ext cx="10883392"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4A83A"/>
                </a:solidFill>
                <a:latin typeface="IBM Plex Sans" pitchFamily="34" charset="0"/>
                <a:ea typeface="IBM Plex Sans" pitchFamily="34" charset="-122"/>
                <a:cs typeface="IBM Plex Sans" pitchFamily="34" charset="-120"/>
              </a:rPr>
              <a:t>1</a:t>
            </a:r>
            <a:r>
              <a:rPr lang="en-US" sz="1700" dirty="0">
                <a:solidFill>
                  <a:srgbClr val="E9E6FA"/>
                </a:solidFill>
                <a:latin typeface="IBM Plex Sans" pitchFamily="34" charset="0"/>
                <a:ea typeface="IBM Plex Sans" pitchFamily="34" charset="-122"/>
                <a:cs typeface="IBM Plex Sans" pitchFamily="34" charset="-120"/>
              </a:rPr>
              <a:t> Iterate the PRD, then budget ~25% for what the build finds</a:t>
            </a:r>
            <a:endParaRPr lang="en-US" sz="1700" dirty="0"/>
          </a:p>
        </p:txBody>
      </p:sp>
      <p:sp>
        <p:nvSpPr>
          <p:cNvPr id="6" name="Text 4"/>
          <p:cNvSpPr/>
          <p:nvPr/>
        </p:nvSpPr>
        <p:spPr>
          <a:xfrm>
            <a:off x="812800" y="2557066"/>
            <a:ext cx="10883392"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4A83A"/>
                </a:solidFill>
                <a:latin typeface="IBM Plex Sans" pitchFamily="34" charset="0"/>
                <a:ea typeface="IBM Plex Sans" pitchFamily="34" charset="-122"/>
                <a:cs typeface="IBM Plex Sans" pitchFamily="34" charset="-120"/>
              </a:rPr>
              <a:t>2</a:t>
            </a:r>
            <a:r>
              <a:rPr lang="en-US" sz="1700" dirty="0">
                <a:solidFill>
                  <a:srgbClr val="E9E6FA"/>
                </a:solidFill>
                <a:latin typeface="IBM Plex Sans" pitchFamily="34" charset="0"/>
                <a:ea typeface="IBM Plex Sans" pitchFamily="34" charset="-122"/>
                <a:cs typeface="IBM Plex Sans" pitchFamily="34" charset="-120"/>
              </a:rPr>
              <a:t> Generate tickets and enforce the template in code</a:t>
            </a:r>
            <a:endParaRPr lang="en-US" sz="1700" dirty="0"/>
          </a:p>
        </p:txBody>
      </p:sp>
      <p:sp>
        <p:nvSpPr>
          <p:cNvPr id="7" name="Text 5"/>
          <p:cNvSpPr/>
          <p:nvPr/>
        </p:nvSpPr>
        <p:spPr>
          <a:xfrm>
            <a:off x="812800" y="2975521"/>
            <a:ext cx="10883392"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4A83A"/>
                </a:solidFill>
                <a:latin typeface="IBM Plex Sans" pitchFamily="34" charset="0"/>
                <a:ea typeface="IBM Plex Sans" pitchFamily="34" charset="-122"/>
                <a:cs typeface="IBM Plex Sans" pitchFamily="34" charset="-120"/>
              </a:rPr>
              <a:t>3</a:t>
            </a:r>
            <a:r>
              <a:rPr lang="en-US" sz="1700" dirty="0">
                <a:solidFill>
                  <a:srgbClr val="E9E6FA"/>
                </a:solidFill>
                <a:latin typeface="IBM Plex Sans" pitchFamily="34" charset="0"/>
                <a:ea typeface="IBM Plex Sans" pitchFamily="34" charset="-122"/>
                <a:cs typeface="IBM Plex Sans" pitchFamily="34" charset="-120"/>
              </a:rPr>
              <a:t> Commit skills and rules to the repo, grounded in the spec</a:t>
            </a:r>
            <a:endParaRPr lang="en-US" sz="1700" dirty="0"/>
          </a:p>
        </p:txBody>
      </p:sp>
      <p:sp>
        <p:nvSpPr>
          <p:cNvPr id="8" name="Text 6"/>
          <p:cNvSpPr/>
          <p:nvPr/>
        </p:nvSpPr>
        <p:spPr>
          <a:xfrm>
            <a:off x="812800" y="3393976"/>
            <a:ext cx="10883392"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4A83A"/>
                </a:solidFill>
                <a:latin typeface="IBM Plex Sans" pitchFamily="34" charset="0"/>
                <a:ea typeface="IBM Plex Sans" pitchFamily="34" charset="-122"/>
                <a:cs typeface="IBM Plex Sans" pitchFamily="34" charset="-120"/>
              </a:rPr>
              <a:t>4</a:t>
            </a:r>
            <a:r>
              <a:rPr lang="en-US" sz="1700" dirty="0">
                <a:solidFill>
                  <a:srgbClr val="E9E6FA"/>
                </a:solidFill>
                <a:latin typeface="IBM Plex Sans" pitchFamily="34" charset="0"/>
                <a:ea typeface="IBM Plex Sans" pitchFamily="34" charset="-122"/>
                <a:cs typeface="IBM Plex Sans" pitchFamily="34" charset="-120"/>
              </a:rPr>
              <a:t> Size the work, match the model, test every AC and every click</a:t>
            </a:r>
            <a:endParaRPr lang="en-US" sz="1700" dirty="0"/>
          </a:p>
        </p:txBody>
      </p:sp>
      <p:sp>
        <p:nvSpPr>
          <p:cNvPr id="9" name="Text 7"/>
          <p:cNvSpPr/>
          <p:nvPr/>
        </p:nvSpPr>
        <p:spPr>
          <a:xfrm>
            <a:off x="812800" y="3812431"/>
            <a:ext cx="10883392"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4A83A"/>
                </a:solidFill>
                <a:latin typeface="IBM Plex Sans" pitchFamily="34" charset="0"/>
                <a:ea typeface="IBM Plex Sans" pitchFamily="34" charset="-122"/>
                <a:cs typeface="IBM Plex Sans" pitchFamily="34" charset="-120"/>
              </a:rPr>
              <a:t>5</a:t>
            </a:r>
            <a:r>
              <a:rPr lang="en-US" sz="1700" dirty="0">
                <a:solidFill>
                  <a:srgbClr val="E9E6FA"/>
                </a:solidFill>
                <a:latin typeface="IBM Plex Sans" pitchFamily="34" charset="0"/>
                <a:ea typeface="IBM Plex Sans" pitchFamily="34" charset="-122"/>
                <a:cs typeface="IBM Plex Sans" pitchFamily="34" charset="-120"/>
              </a:rPr>
              <a:t> Automate everything; docs ship with the code</a:t>
            </a:r>
            <a:endParaRPr lang="en-US" sz="1700" dirty="0"/>
          </a:p>
        </p:txBody>
      </p:sp>
      <p:sp>
        <p:nvSpPr>
          <p:cNvPr id="10" name="Text 8"/>
          <p:cNvSpPr/>
          <p:nvPr/>
        </p:nvSpPr>
        <p:spPr>
          <a:xfrm>
            <a:off x="812800" y="4408686"/>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5FB"/>
                </a:solidFill>
                <a:latin typeface="IBM Plex Sans" pitchFamily="34" charset="0"/>
                <a:ea typeface="IBM Plex Sans" pitchFamily="34" charset="-122"/>
                <a:cs typeface="IBM Plex Sans" pitchFamily="34" charset="-120"/>
              </a:rPr>
              <a:t>Start Monday:</a:t>
            </a:r>
            <a:r>
              <a:rPr lang="en-US" sz="1500" dirty="0">
                <a:solidFill>
                  <a:srgbClr val="CEC8F0"/>
                </a:solidFill>
                <a:latin typeface="IBM Plex Sans" pitchFamily="34" charset="0"/>
                <a:ea typeface="IBM Plex Sans" pitchFamily="34" charset="-122"/>
                <a:cs typeface="IBM Plex Sans" pitchFamily="34" charset="-120"/>
              </a:rPr>
              <a:t> run /build-pack on one module and import Ponytail and Superpowers.</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EC8F0"/>
                </a:solidFill>
                <a:latin typeface="IBM Plex Sans" pitchFamily="34" charset="0"/>
                <a:ea typeface="IBM Plex Sans" pitchFamily="34" charset="-122"/>
                <a:cs typeface="IBM Plex Sans" pitchFamily="34" charset="-120"/>
              </a:rPr>
              <a:t>Questions · Spec coding with Cursor · 20</a:t>
            </a:r>
            <a:endParaRPr lang="en-US" sz="1200" dirty="0"/>
          </a:p>
        </p:txBody>
      </p:sp>
    </p:spTree>
  </p:cSld>
  <p:clrMapOvr>
    <a:masterClrMapping/>
  </p:clrMapOvr>
</p:sld>
</file>

<file path=ppt/theme/theme1.xml><?xml version="1.0" encoding="utf-8"?>
<a:theme xmlns:a="http://schemas.openxmlformats.org/drawingml/2006/main" name="Spec Coding with Cursor">
  <a:themeElements>
    <a:clrScheme name="Spec Coding with Cursor">
      <a:dk1>
        <a:srgbClr val="1E1A45"/>
      </a:dk1>
      <a:lt1>
        <a:srgbClr val="F6F5FB"/>
      </a:lt1>
      <a:dk2>
        <a:srgbClr val="545173"/>
      </a:dk2>
      <a:lt2>
        <a:srgbClr val="E0DFE9"/>
      </a:lt2>
      <a:accent1>
        <a:srgbClr val="5B46C9"/>
      </a:accent1>
      <a:accent2>
        <a:srgbClr val="CEC8F0"/>
      </a:accent2>
      <a:accent3>
        <a:srgbClr val="F4A83A"/>
      </a:accent3>
      <a:accent4>
        <a:srgbClr val="3F2F9E"/>
      </a:accent4>
      <a:accent5>
        <a:srgbClr val="4A4766"/>
      </a:accent5>
      <a:accent6>
        <a:srgbClr val="6E6A8C"/>
      </a:accent6>
      <a:hlink>
        <a:srgbClr val="0563C1"/>
      </a:hlink>
      <a:folHlink>
        <a:srgbClr val="954F72"/>
      </a:folHlink>
    </a:clrScheme>
    <a:fontScheme name="Spec Coding with Cursor">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 Coding with Cursor</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2026-10-29T12:10:18Z</dcterms:created>
  <dcterms:modified xsi:type="dcterms:W3CDTF">2026-10-29T12:10:18Z</dcterms:modified>
</cp:coreProperties>
</file>